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80" r:id="rId1"/>
  </p:sldMasterIdLst>
  <p:notesMasterIdLst>
    <p:notesMasterId r:id="rId37"/>
  </p:notesMasterIdLst>
  <p:sldIdLst>
    <p:sldId id="269" r:id="rId2"/>
    <p:sldId id="270" r:id="rId3"/>
    <p:sldId id="268" r:id="rId4"/>
    <p:sldId id="271" r:id="rId5"/>
    <p:sldId id="293" r:id="rId6"/>
    <p:sldId id="267" r:id="rId7"/>
    <p:sldId id="266" r:id="rId8"/>
    <p:sldId id="273" r:id="rId9"/>
    <p:sldId id="274" r:id="rId10"/>
    <p:sldId id="294" r:id="rId11"/>
    <p:sldId id="275" r:id="rId12"/>
    <p:sldId id="285" r:id="rId13"/>
    <p:sldId id="295" r:id="rId14"/>
    <p:sldId id="276" r:id="rId15"/>
    <p:sldId id="277" r:id="rId16"/>
    <p:sldId id="287" r:id="rId17"/>
    <p:sldId id="284" r:id="rId18"/>
    <p:sldId id="280" r:id="rId19"/>
    <p:sldId id="291" r:id="rId20"/>
    <p:sldId id="290" r:id="rId21"/>
    <p:sldId id="282" r:id="rId22"/>
    <p:sldId id="289" r:id="rId23"/>
    <p:sldId id="292" r:id="rId24"/>
    <p:sldId id="296" r:id="rId25"/>
    <p:sldId id="288" r:id="rId26"/>
    <p:sldId id="297" r:id="rId27"/>
    <p:sldId id="298" r:id="rId28"/>
    <p:sldId id="300" r:id="rId29"/>
    <p:sldId id="299" r:id="rId30"/>
    <p:sldId id="301" r:id="rId31"/>
    <p:sldId id="302" r:id="rId32"/>
    <p:sldId id="304" r:id="rId33"/>
    <p:sldId id="303" r:id="rId34"/>
    <p:sldId id="305" r:id="rId35"/>
    <p:sldId id="307" r:id="rId36"/>
  </p:sldIdLst>
  <p:sldSz cx="18288000" cy="10287000"/>
  <p:notesSz cx="6858000" cy="9144000"/>
  <p:embeddedFontLst>
    <p:embeddedFont>
      <p:font typeface="Source Han Sans KR" panose="020B0600000101010101" charset="-127"/>
      <p:regular r:id="rId38"/>
    </p:embeddedFont>
    <p:embeddedFont>
      <p:font typeface="Source Han Sans KR Bold" panose="020B0600000101010101" charset="-127"/>
      <p:regular r:id="rId39"/>
    </p:embeddedFont>
    <p:embeddedFont>
      <p:font typeface="Source Han Sans KR Medium" panose="020B0600000101010101" charset="-127"/>
      <p:regular r:id="rId40"/>
    </p:embeddedFont>
    <p:embeddedFont>
      <p:font typeface="Cabin Bold" panose="020B0600000101010101" charset="0"/>
      <p:regular r:id="rId41"/>
    </p:embeddedFont>
    <p:embeddedFont>
      <p:font typeface="맑은 고딕" panose="020B0503020000020004" pitchFamily="50" charset="-127"/>
      <p:regular r:id="rId42"/>
      <p:bold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69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8T21:09:56.998"/>
    </inkml:context>
    <inkml:brush xml:id="br0">
      <inkml:brushProperty name="width" value="0.2" units="cm"/>
      <inkml:brushProperty name="height" value="0.2" units="cm"/>
      <inkml:brushProperty name="color" value="#E71224"/>
    </inkml:brush>
  </inkml:definitions>
  <inkml:trace contextRef="#ctx0" brushRef="#br0">16043 81 24575,'-5'1'0,"-1"1"0,1-1 0,0 1 0,0 0 0,0 0 0,0 0 0,0 1 0,-8 5 0,-1 1 0,-5 0 0,1 2 0,0 0 0,1 1 0,0 1 0,1 0 0,1 1 0,0 1 0,0 1 0,2 0 0,0 1 0,1 0 0,-19 36 0,-16 57 0,5 1 0,-31 136 0,26-87 0,-9 34 0,-116 336 0,163-512 0,0-1 0,-1 1 0,0-2 0,-1 0 0,-2 0 0,1-1 0,-2 0 0,0-1 0,-26 20 0,-14 6 0,-88 47 0,77-48 0,-24 18 0,3 4 0,-91 83 0,167-135 0,-1-1 0,-1 0 0,1-1 0,-1 0 0,-1-1 0,1 0 0,-1-1 0,-21 6 0,-8-1 0,-61 5 0,3 0 0,-221 70 0,-50 10 0,308-88 0,-77 0 0,90-6 0,-1 1 0,2 3 0,-53 12 0,-2 11 0,53-13 0,0-2 0,-1-2 0,-1-2 0,-73 2 0,-4-9 0,-245 37 0,-451 87 0,-10-65 0,55-65 0,718 8 0,1 2 0,0 3 0,-118 34 0,147-34 0,-346 119 0,165-49 0,-130 16 0,236-69 0,-282 74-430,-1173 366-1821,41 151 1453,1137-424 462,264-125 303,-113 84 0,184-111 958,1 2 0,-79 91-1,60-60-290,-896 897-1851,166-203-149,29 29 0,739-765 1538,2 1 0,1 2 0,2 0 0,1 1 0,2 2-1,-33 76 1,-104 380 1934,46-121-993,70-248-1113,5 2 0,-40 252 0,31 488 0,40-569 0,2-88 0,-22 338 0,5-44 0,5-49 0,-120 450 0,39-326 0,57-310 0,-70 597 0,97-668 0,9 0 0,30 294 0,111 984-1813,-97 771-732,-38-1548 1686,24 228 1758,-25-923-896,3 44 728,15 85 0,-15-119-531,1 1-1,0-1 1,1-1 0,1 1-1,0-1 1,1 0-1,1 0 1,-1-1 0,2 0-1,11 13 1,20 15-73,3 0 0,1-3 0,71 46 0,160 74 22,234 49-149,-262-115 0,-210-76 0,1-2 0,0-1 0,1-2 0,0-1 0,0-3 0,1-1 0,43 0 0,2465-12 0,-2497 8 0,-21 0 0,0-1 0,52-7 0,-73 5 0,0 1 0,0-2 0,-1 0 0,1 0 0,-1 0 0,0-1 0,0 0 0,0-1 0,0 0 0,-1 0 0,0 0 0,0-1 0,9-10 0,149-157 0,-84 93 0,-5-3 0,129-181 0,-100 101 0,111-190 0,-116 119 0,-12 22 0,335-488 0,-161 294 0,-246 378 0,0 0 0,13-34 0,-25 49 0,1-1 0,-2 0 0,0 0 0,0 0 0,-2 0 0,1 0 0,-2-20 0,15-375 0,35-1 0,10-128 0,-46-563 0,-13 1068 0,1 1 0,1-1 0,2 1 0,14-46 0,50-124 0,-59 175 0,57-152 0,247-687 0,-293 799 0,-13 37 0,1 0 0,1 1 0,2 0 0,1 0 0,2 1 0,30-44 0,-42 68 0,0 0 0,0 1 0,1 0 0,-1 0 0,1 0 0,0 0 0,0 1 0,0-1 0,0 1 0,0 0 0,0 0 0,1 1 0,-1-1 0,1 1 0,-1 0 0,1 0 0,-1 0 0,1 1 0,6 0 0,6 1 0,0 1 0,0 0 0,-1 2 0,19 5 0,-20-4 0,-1-2 0,1 1 0,0-2 0,0 0 0,17 0 0,-19-4 0,-1 0 0,1-1 0,-1-1 0,1 0 0,-1 0 0,0-1 0,0-1 0,-1 0 0,0 0 0,0-1 0,16-14 0,14-14 0,53-58 0,-65 62 0,131-144 0,-8-7 0,142-221 0,28-145 0,-154 248 0,189-293 0,61-107 0,57-31 0,-372 581 0,32-40 0,-27 67 0,162-143 0,145-86 0,-414 350 0,59-47 0,34-30 0,3 4 0,114-67 0,-82 77 0,203-73 0,-105 48 0,-223 89 0,355-135 0,-312 123 0,0 2 0,1 2 0,0 2 0,0 2 0,96 3 0,687 13 0,-505-14 0,1020 3 0,-1138 18 0,-36-1 0,663-11 0,-480-8 0,-270-2 0,-2-4 0,1-3 0,-1-4 0,-1-3 0,123-46 0,7-21-32,256-144-1,-418 203-8,22-11-33,487-274-383,-538 299 457,0-2 0,-1-1 0,0 0 0,-2-1 0,0-1 0,0-1 0,-2 0 0,0-2 0,-1 1 0,-1-2 0,-1 0 0,-1-1 0,18-44 0,29-87 85,6-16 191,89-166 0,-56 170-276,190-247 0,-268 387 0,-2-1 0,0-1 0,-2 0 0,-1-1 0,-1-1 0,-2 0 0,12-41 0,234-655 0,48-174 0,-243 663 0,72-310 0,-103 313 0,-18 108 0,37-343 0,-11-569 0,-59 814 0,4 79 0,-7-46 0,17 165 0,-1 0 0,-1 0 0,-2 0 0,0 1 0,-17-30 0,12 33 0,-2 0 0,-1 2 0,0 0 0,-1 1 0,-1 0 0,-40-27 0,4 1 0,-263-197 0,152 121 0,-133-89 0,-336-137 0,545 305 0,-160-50 0,-101-2 0,233 63 0,2-4 0,-120-53 0,70 16 0,-200-56 0,289 106 0,-1 3 0,-1 4 0,0 3 0,-1 4 0,-89 3 0,-188-11 0,113 0 0,185 13 0,2-1 0,0 2 0,1 2 0,-1 3 0,-93 19 0,141-20-195,1 0 0,-1 0 0,1 1 0,0 0 0,1 0 0,-11 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5CA4-8A76-49B8-8B1E-5A62A23EE929}" type="datetimeFigureOut">
              <a:rPr lang="ko-KR" altLang="en-US" smtClean="0"/>
              <a:t>2026-06-09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27457-AA1C-4AAE-B9F6-7227698DDE88}" type="slidenum">
              <a:rPr lang="ko-KR" altLang="en-US" smtClean="0"/>
              <a:t>‹#›</a:t>
            </a:fld>
            <a:endParaRPr lang="ko-KR" altLang="en-US"/>
          </a:p>
        </p:txBody>
      </p:sp>
    </p:spTree>
    <p:extLst>
      <p:ext uri="{BB962C8B-B14F-4D97-AF65-F5344CB8AC3E}">
        <p14:creationId xmlns:p14="http://schemas.microsoft.com/office/powerpoint/2010/main" val="39021298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7F427457-AA1C-4AAE-B9F6-7227698DDE88}" type="slidenum">
              <a:rPr lang="ko-KR" altLang="en-US" smtClean="0"/>
              <a:t>11</a:t>
            </a:fld>
            <a:endParaRPr lang="ko-KR" altLang="en-US"/>
          </a:p>
        </p:txBody>
      </p:sp>
    </p:spTree>
    <p:extLst>
      <p:ext uri="{BB962C8B-B14F-4D97-AF65-F5344CB8AC3E}">
        <p14:creationId xmlns:p14="http://schemas.microsoft.com/office/powerpoint/2010/main" val="2917312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7F427457-AA1C-4AAE-B9F6-7227698DDE88}" type="slidenum">
              <a:rPr lang="ko-KR" altLang="en-US" smtClean="0"/>
              <a:t>12</a:t>
            </a:fld>
            <a:endParaRPr lang="ko-KR" altLang="en-US"/>
          </a:p>
        </p:txBody>
      </p:sp>
    </p:spTree>
    <p:extLst>
      <p:ext uri="{BB962C8B-B14F-4D97-AF65-F5344CB8AC3E}">
        <p14:creationId xmlns:p14="http://schemas.microsoft.com/office/powerpoint/2010/main" val="3028209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9401-9E95-FB4C-AD91-FD265F933D8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ABECE4E-084B-7B09-3675-C8674CD5220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F0D6620-139B-1C49-76D0-6EFC9CFFBB8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98E9F1C-490D-828A-8781-6B44632B2EBB}"/>
              </a:ext>
            </a:extLst>
          </p:cNvPr>
          <p:cNvSpPr>
            <a:spLocks noGrp="1"/>
          </p:cNvSpPr>
          <p:nvPr>
            <p:ph type="sldNum" sz="quarter" idx="5"/>
          </p:nvPr>
        </p:nvSpPr>
        <p:spPr/>
        <p:txBody>
          <a:bodyPr/>
          <a:lstStyle/>
          <a:p>
            <a:fld id="{7F427457-AA1C-4AAE-B9F6-7227698DDE88}" type="slidenum">
              <a:rPr lang="ko-KR" altLang="en-US" smtClean="0"/>
              <a:t>13</a:t>
            </a:fld>
            <a:endParaRPr lang="ko-KR" altLang="en-US"/>
          </a:p>
        </p:txBody>
      </p:sp>
    </p:spTree>
    <p:extLst>
      <p:ext uri="{BB962C8B-B14F-4D97-AF65-F5344CB8AC3E}">
        <p14:creationId xmlns:p14="http://schemas.microsoft.com/office/powerpoint/2010/main" val="3276240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ko-KR" altLang="en-US"/>
              <a:t>마스터 제목 스타일 편집</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488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322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ko-KR" altLang="en-US"/>
              <a:t>마스터 제목 스타일 편집</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3756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3788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259683" y="3757613"/>
            <a:ext cx="7736681" cy="5526882"/>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9258300" y="3757613"/>
            <a:ext cx="7774782" cy="5526882"/>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827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4241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046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ko-KR" altLang="en-US"/>
              <a:t>마스터 제목 스타일 편집</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000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4926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713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47625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04118204"/>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1371600" rtl="0" eaLnBrk="1" latinLnBrk="1"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1"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1"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1"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1"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1" hangingPunct="1">
        <a:defRPr sz="2700" kern="1200">
          <a:solidFill>
            <a:schemeClr val="tx1"/>
          </a:solidFill>
          <a:latin typeface="+mn-lt"/>
          <a:ea typeface="+mn-ea"/>
          <a:cs typeface="+mn-cs"/>
        </a:defRPr>
      </a:lvl1pPr>
      <a:lvl2pPr marL="685800" algn="l" defTabSz="1371600" rtl="0" eaLnBrk="1" latinLnBrk="1" hangingPunct="1">
        <a:defRPr sz="2700" kern="1200">
          <a:solidFill>
            <a:schemeClr val="tx1"/>
          </a:solidFill>
          <a:latin typeface="+mn-lt"/>
          <a:ea typeface="+mn-ea"/>
          <a:cs typeface="+mn-cs"/>
        </a:defRPr>
      </a:lvl2pPr>
      <a:lvl3pPr marL="1371600" algn="l" defTabSz="1371600" rtl="0" eaLnBrk="1" latinLnBrk="1" hangingPunct="1">
        <a:defRPr sz="2700" kern="1200">
          <a:solidFill>
            <a:schemeClr val="tx1"/>
          </a:solidFill>
          <a:latin typeface="+mn-lt"/>
          <a:ea typeface="+mn-ea"/>
          <a:cs typeface="+mn-cs"/>
        </a:defRPr>
      </a:lvl3pPr>
      <a:lvl4pPr marL="2057400" algn="l" defTabSz="1371600" rtl="0" eaLnBrk="1" latinLnBrk="1" hangingPunct="1">
        <a:defRPr sz="2700" kern="1200">
          <a:solidFill>
            <a:schemeClr val="tx1"/>
          </a:solidFill>
          <a:latin typeface="+mn-lt"/>
          <a:ea typeface="+mn-ea"/>
          <a:cs typeface="+mn-cs"/>
        </a:defRPr>
      </a:lvl4pPr>
      <a:lvl5pPr marL="2743200" algn="l" defTabSz="1371600" rtl="0" eaLnBrk="1" latinLnBrk="1" hangingPunct="1">
        <a:defRPr sz="2700" kern="1200">
          <a:solidFill>
            <a:schemeClr val="tx1"/>
          </a:solidFill>
          <a:latin typeface="+mn-lt"/>
          <a:ea typeface="+mn-ea"/>
          <a:cs typeface="+mn-cs"/>
        </a:defRPr>
      </a:lvl5pPr>
      <a:lvl6pPr marL="3429000" algn="l" defTabSz="1371600" rtl="0" eaLnBrk="1" latinLnBrk="1" hangingPunct="1">
        <a:defRPr sz="2700" kern="1200">
          <a:solidFill>
            <a:schemeClr val="tx1"/>
          </a:solidFill>
          <a:latin typeface="+mn-lt"/>
          <a:ea typeface="+mn-ea"/>
          <a:cs typeface="+mn-cs"/>
        </a:defRPr>
      </a:lvl6pPr>
      <a:lvl7pPr marL="4114800" algn="l" defTabSz="1371600" rtl="0" eaLnBrk="1" latinLnBrk="1" hangingPunct="1">
        <a:defRPr sz="2700" kern="1200">
          <a:solidFill>
            <a:schemeClr val="tx1"/>
          </a:solidFill>
          <a:latin typeface="+mn-lt"/>
          <a:ea typeface="+mn-ea"/>
          <a:cs typeface="+mn-cs"/>
        </a:defRPr>
      </a:lvl7pPr>
      <a:lvl8pPr marL="4800600" algn="l" defTabSz="1371600" rtl="0" eaLnBrk="1" latinLnBrk="1" hangingPunct="1">
        <a:defRPr sz="2700" kern="1200">
          <a:solidFill>
            <a:schemeClr val="tx1"/>
          </a:solidFill>
          <a:latin typeface="+mn-lt"/>
          <a:ea typeface="+mn-ea"/>
          <a:cs typeface="+mn-cs"/>
        </a:defRPr>
      </a:lvl8pPr>
      <a:lvl9pPr marL="5486400" algn="l" defTabSz="1371600" rtl="0" eaLnBrk="1" latinLnBrk="1"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C979-BE04-B802-193A-05E153C28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0A6C929-CB60-06AC-60DD-38B4FBCA5D2E}"/>
              </a:ext>
            </a:extLst>
          </p:cNvPr>
          <p:cNvGrpSpPr/>
          <p:nvPr/>
        </p:nvGrpSpPr>
        <p:grpSpPr>
          <a:xfrm>
            <a:off x="0" y="0"/>
            <a:ext cx="18288000" cy="1171619"/>
            <a:chOff x="0" y="0"/>
            <a:chExt cx="4816593" cy="308575"/>
          </a:xfrm>
        </p:grpSpPr>
        <p:sp>
          <p:nvSpPr>
            <p:cNvPr id="3" name="Freeform 3">
              <a:extLst>
                <a:ext uri="{FF2B5EF4-FFF2-40B4-BE49-F238E27FC236}">
                  <a16:creationId xmlns:a16="http://schemas.microsoft.com/office/drawing/2014/main" id="{BE0BFFE6-0207-226B-216B-657DAB1B5131}"/>
                </a:ext>
              </a:extLst>
            </p:cNvPr>
            <p:cNvSpPr/>
            <p:nvPr/>
          </p:nvSpPr>
          <p:spPr>
            <a:xfrm>
              <a:off x="0" y="0"/>
              <a:ext cx="4816592" cy="308575"/>
            </a:xfrm>
            <a:custGeom>
              <a:avLst/>
              <a:gdLst/>
              <a:ahLst/>
              <a:cxnLst/>
              <a:rect l="l" t="t" r="r" b="b"/>
              <a:pathLst>
                <a:path w="4816592" h="308575">
                  <a:moveTo>
                    <a:pt x="0" y="0"/>
                  </a:moveTo>
                  <a:lnTo>
                    <a:pt x="4816592" y="0"/>
                  </a:lnTo>
                  <a:lnTo>
                    <a:pt x="4816592" y="308575"/>
                  </a:lnTo>
                  <a:lnTo>
                    <a:pt x="0" y="308575"/>
                  </a:lnTo>
                  <a:close/>
                </a:path>
              </a:pathLst>
            </a:custGeom>
            <a:solidFill>
              <a:srgbClr val="0F71FC"/>
            </a:solidFill>
          </p:spPr>
          <p:txBody>
            <a:bodyPr/>
            <a:lstStyle/>
            <a:p>
              <a:endParaRPr lang="ko-KR" altLang="en-US">
                <a:ln w="0"/>
                <a:effectLst>
                  <a:outerShdw blurRad="38100" dist="19050" dir="2700000" algn="tl" rotWithShape="0">
                    <a:schemeClr val="dk1">
                      <a:alpha val="40000"/>
                    </a:schemeClr>
                  </a:outerShdw>
                </a:effectLst>
              </a:endParaRPr>
            </a:p>
          </p:txBody>
        </p:sp>
        <p:sp>
          <p:nvSpPr>
            <p:cNvPr id="4" name="TextBox 4">
              <a:extLst>
                <a:ext uri="{FF2B5EF4-FFF2-40B4-BE49-F238E27FC236}">
                  <a16:creationId xmlns:a16="http://schemas.microsoft.com/office/drawing/2014/main" id="{01AB78DB-5C84-519B-14F7-3F4D4341D5DA}"/>
                </a:ext>
              </a:extLst>
            </p:cNvPr>
            <p:cNvSpPr txBox="1"/>
            <p:nvPr/>
          </p:nvSpPr>
          <p:spPr>
            <a:xfrm>
              <a:off x="0" y="-47625"/>
              <a:ext cx="4816593" cy="356200"/>
            </a:xfrm>
            <a:prstGeom prst="rect">
              <a:avLst/>
            </a:prstGeom>
          </p:spPr>
          <p:txBody>
            <a:bodyPr lIns="50800" tIns="50800" rIns="50800" bIns="50800" rtlCol="0" anchor="ctr"/>
            <a:lstStyle/>
            <a:p>
              <a:pPr algn="ctr">
                <a:lnSpc>
                  <a:spcPts val="2659"/>
                </a:lnSpc>
                <a:spcBef>
                  <a:spcPct val="0"/>
                </a:spcBef>
              </a:pPr>
              <a:endParaRPr>
                <a:ln w="0"/>
                <a:effectLst>
                  <a:outerShdw blurRad="38100" dist="19050" dir="2700000" algn="tl" rotWithShape="0">
                    <a:schemeClr val="dk1">
                      <a:alpha val="40000"/>
                    </a:schemeClr>
                  </a:outerShdw>
                </a:effectLst>
              </a:endParaRPr>
            </a:p>
          </p:txBody>
        </p:sp>
      </p:grpSp>
      <p:sp>
        <p:nvSpPr>
          <p:cNvPr id="6" name="TextBox 6">
            <a:extLst>
              <a:ext uri="{FF2B5EF4-FFF2-40B4-BE49-F238E27FC236}">
                <a16:creationId xmlns:a16="http://schemas.microsoft.com/office/drawing/2014/main" id="{2611A43A-3696-9F72-7D2E-EA939A1D2370}"/>
              </a:ext>
            </a:extLst>
          </p:cNvPr>
          <p:cNvSpPr txBox="1"/>
          <p:nvPr/>
        </p:nvSpPr>
        <p:spPr>
          <a:xfrm>
            <a:off x="1384990" y="4204154"/>
            <a:ext cx="8427467" cy="1184275"/>
          </a:xfrm>
          <a:prstGeom prst="rect">
            <a:avLst/>
          </a:prstGeom>
        </p:spPr>
        <p:txBody>
          <a:bodyPr lIns="0" tIns="0" rIns="0" bIns="0" rtlCol="0" anchor="t">
            <a:spAutoFit/>
          </a:bodyPr>
          <a:lstStyle/>
          <a:p>
            <a:pPr algn="l">
              <a:lnSpc>
                <a:spcPts val="9799"/>
              </a:lnSpc>
              <a:spcBef>
                <a:spcPct val="0"/>
              </a:spcBef>
            </a:pPr>
            <a:r>
              <a:rPr lang="en-US" sz="6999" b="1" dirty="0">
                <a:solidFill>
                  <a:srgbClr val="24242F"/>
                </a:solidFill>
                <a:latin typeface="Source Han Sans KR Bold"/>
                <a:ea typeface="Source Han Sans KR Bold"/>
                <a:cs typeface="Source Han Sans KR Bold"/>
                <a:sym typeface="Source Han Sans KR Bold"/>
              </a:rPr>
              <a:t>UR3 </a:t>
            </a:r>
            <a:r>
              <a:rPr lang="en-US" sz="6999" b="1" dirty="0" err="1">
                <a:solidFill>
                  <a:srgbClr val="24242F"/>
                </a:solidFill>
                <a:latin typeface="Source Han Sans KR Bold"/>
                <a:ea typeface="Source Han Sans KR Bold"/>
                <a:cs typeface="Source Han Sans KR Bold"/>
                <a:sym typeface="Source Han Sans KR Bold"/>
              </a:rPr>
              <a:t>CobotOps</a:t>
            </a:r>
            <a:endParaRPr lang="en-US" sz="6999" b="1" dirty="0">
              <a:solidFill>
                <a:srgbClr val="24242F"/>
              </a:solidFill>
              <a:latin typeface="Source Han Sans KR Bold"/>
              <a:ea typeface="Source Han Sans KR Bold"/>
              <a:cs typeface="Source Han Sans KR Bold"/>
              <a:sym typeface="Source Han Sans KR Bold"/>
            </a:endParaRPr>
          </a:p>
        </p:txBody>
      </p:sp>
      <p:sp>
        <p:nvSpPr>
          <p:cNvPr id="7" name="TextBox 7">
            <a:extLst>
              <a:ext uri="{FF2B5EF4-FFF2-40B4-BE49-F238E27FC236}">
                <a16:creationId xmlns:a16="http://schemas.microsoft.com/office/drawing/2014/main" id="{7492F92B-4757-18AB-BB6F-DE8709B9769F}"/>
              </a:ext>
            </a:extLst>
          </p:cNvPr>
          <p:cNvSpPr txBox="1"/>
          <p:nvPr/>
        </p:nvSpPr>
        <p:spPr>
          <a:xfrm>
            <a:off x="4800600" y="8929688"/>
            <a:ext cx="12725400" cy="419795"/>
          </a:xfrm>
          <a:prstGeom prst="rect">
            <a:avLst/>
          </a:prstGeom>
        </p:spPr>
        <p:txBody>
          <a:bodyPr wrap="square" lIns="0" tIns="0" rIns="0" bIns="0" rtlCol="0" anchor="t">
            <a:spAutoFit/>
          </a:bodyPr>
          <a:lstStyle/>
          <a:p>
            <a:pPr lvl="1" algn="r">
              <a:lnSpc>
                <a:spcPts val="3499"/>
              </a:lnSpc>
              <a:spcBef>
                <a:spcPct val="0"/>
              </a:spcBef>
            </a:pP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Member</a:t>
            </a:r>
            <a:r>
              <a:rPr lang="ko-KR" altLang="en-US"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taekmyung</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kim</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 </a:t>
            </a:r>
            <a:r>
              <a:rPr lang="en-US" altLang="ko-KR" sz="2499" b="1" dirty="0" err="1">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Hyunsung</a:t>
            </a:r>
            <a:r>
              <a:rPr lang="en-US" altLang="ko-KR"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rPr>
              <a:t> Yoo, Dohyun Namgoong</a:t>
            </a:r>
            <a:endParaRPr lang="en-US" sz="2499" b="1" dirty="0">
              <a:solidFill>
                <a:schemeClr val="tx1">
                  <a:lumMod val="65000"/>
                  <a:lumOff val="35000"/>
                </a:schemeClr>
              </a:solidFill>
              <a:latin typeface="Source Han Sans KR Bold" panose="020B0600000101010101" charset="-127"/>
              <a:ea typeface="Source Han Sans KR Bold" panose="020B0600000101010101" charset="-127"/>
              <a:cs typeface="Cabin Bold"/>
              <a:sym typeface="Cabin Bold"/>
            </a:endParaRPr>
          </a:p>
        </p:txBody>
      </p:sp>
      <p:sp>
        <p:nvSpPr>
          <p:cNvPr id="9" name="TextBox 9">
            <a:extLst>
              <a:ext uri="{FF2B5EF4-FFF2-40B4-BE49-F238E27FC236}">
                <a16:creationId xmlns:a16="http://schemas.microsoft.com/office/drawing/2014/main" id="{31021C06-15CA-490B-430B-658A54C3F931}"/>
              </a:ext>
            </a:extLst>
          </p:cNvPr>
          <p:cNvSpPr txBox="1"/>
          <p:nvPr/>
        </p:nvSpPr>
        <p:spPr>
          <a:xfrm>
            <a:off x="1442140" y="3579906"/>
            <a:ext cx="11816660" cy="503792"/>
          </a:xfrm>
          <a:prstGeom prst="rect">
            <a:avLst/>
          </a:prstGeom>
        </p:spPr>
        <p:txBody>
          <a:bodyPr wrap="square" lIns="0" tIns="0" rIns="0" bIns="0" rtlCol="0" anchor="t">
            <a:spAutoFit/>
          </a:bodyPr>
          <a:lstStyle/>
          <a:p>
            <a:pPr algn="l">
              <a:lnSpc>
                <a:spcPts val="4200"/>
              </a:lnSpc>
              <a:spcBef>
                <a:spcPct val="0"/>
              </a:spcBef>
            </a:pPr>
            <a:r>
              <a:rPr lang="en-US" sz="3000" dirty="0">
                <a:solidFill>
                  <a:schemeClr val="tx1">
                    <a:lumMod val="65000"/>
                    <a:lumOff val="35000"/>
                  </a:schemeClr>
                </a:solidFill>
                <a:latin typeface="Source Han Sans KR Bold" panose="020B0600000101010101" charset="-127"/>
                <a:ea typeface="Source Han Sans KR Bold" panose="020B0600000101010101" charset="-127"/>
                <a:cs typeface="Cabin"/>
                <a:sym typeface="Cabin"/>
              </a:rPr>
              <a:t>Machine Learning Project</a:t>
            </a:r>
          </a:p>
        </p:txBody>
      </p:sp>
    </p:spTree>
    <p:extLst>
      <p:ext uri="{BB962C8B-B14F-4D97-AF65-F5344CB8AC3E}">
        <p14:creationId xmlns:p14="http://schemas.microsoft.com/office/powerpoint/2010/main" val="166630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01484-5CE2-15E5-6F39-DC7EE726E34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D0219E7-FF0F-4A87-0BC3-5EB074BBF4BC}"/>
              </a:ext>
            </a:extLst>
          </p:cNvPr>
          <p:cNvSpPr/>
          <p:nvPr/>
        </p:nvSpPr>
        <p:spPr>
          <a:xfrm>
            <a:off x="9692721" y="2071637"/>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3" name="AutoShape 3">
            <a:extLst>
              <a:ext uri="{FF2B5EF4-FFF2-40B4-BE49-F238E27FC236}">
                <a16:creationId xmlns:a16="http://schemas.microsoft.com/office/drawing/2014/main" id="{B30FC094-10E5-8273-8AAE-BC11D9D7DB5C}"/>
              </a:ext>
            </a:extLst>
          </p:cNvPr>
          <p:cNvSpPr/>
          <p:nvPr/>
        </p:nvSpPr>
        <p:spPr>
          <a:xfrm>
            <a:off x="9692721" y="3221361"/>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4" name="AutoShape 4">
            <a:extLst>
              <a:ext uri="{FF2B5EF4-FFF2-40B4-BE49-F238E27FC236}">
                <a16:creationId xmlns:a16="http://schemas.microsoft.com/office/drawing/2014/main" id="{3065412D-3729-2C7C-9E90-0F2391E57365}"/>
              </a:ext>
            </a:extLst>
          </p:cNvPr>
          <p:cNvSpPr/>
          <p:nvPr/>
        </p:nvSpPr>
        <p:spPr>
          <a:xfrm>
            <a:off x="9692721" y="4371085"/>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5" name="AutoShape 5">
            <a:extLst>
              <a:ext uri="{FF2B5EF4-FFF2-40B4-BE49-F238E27FC236}">
                <a16:creationId xmlns:a16="http://schemas.microsoft.com/office/drawing/2014/main" id="{02139C32-697A-B76C-51C6-2CDEA740604E}"/>
              </a:ext>
            </a:extLst>
          </p:cNvPr>
          <p:cNvSpPr/>
          <p:nvPr/>
        </p:nvSpPr>
        <p:spPr>
          <a:xfrm>
            <a:off x="9692721" y="5520809"/>
            <a:ext cx="8595279" cy="0"/>
          </a:xfrm>
          <a:prstGeom prst="line">
            <a:avLst/>
          </a:prstGeom>
          <a:ln w="19050" cap="flat">
            <a:solidFill>
              <a:srgbClr val="D7D7D7"/>
            </a:solidFill>
            <a:prstDash val="solid"/>
            <a:headEnd type="none" w="sm" len="sm"/>
            <a:tailEnd type="none" w="sm" len="sm"/>
          </a:ln>
        </p:spPr>
        <p:txBody>
          <a:bodyPr/>
          <a:lstStyle/>
          <a:p>
            <a:endParaRPr lang="ko-KR" altLang="en-US"/>
          </a:p>
        </p:txBody>
      </p:sp>
      <p:sp>
        <p:nvSpPr>
          <p:cNvPr id="9" name="TextBox 9">
            <a:extLst>
              <a:ext uri="{FF2B5EF4-FFF2-40B4-BE49-F238E27FC236}">
                <a16:creationId xmlns:a16="http://schemas.microsoft.com/office/drawing/2014/main" id="{7591A898-F256-69EC-13BB-F57C0D45C2B2}"/>
              </a:ext>
            </a:extLst>
          </p:cNvPr>
          <p:cNvSpPr txBox="1"/>
          <p:nvPr/>
        </p:nvSpPr>
        <p:spPr>
          <a:xfrm>
            <a:off x="10909278" y="1317019"/>
            <a:ext cx="54737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Introduction to Dataset</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0" name="TextBox 10">
            <a:extLst>
              <a:ext uri="{FF2B5EF4-FFF2-40B4-BE49-F238E27FC236}">
                <a16:creationId xmlns:a16="http://schemas.microsoft.com/office/drawing/2014/main" id="{EC93377D-BE3A-0CAB-3E56-E2AEF31C3B40}"/>
              </a:ext>
            </a:extLst>
          </p:cNvPr>
          <p:cNvSpPr txBox="1"/>
          <p:nvPr/>
        </p:nvSpPr>
        <p:spPr>
          <a:xfrm>
            <a:off x="10909278" y="2469550"/>
            <a:ext cx="69977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Problem Definition</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1" name="TextBox 11">
            <a:extLst>
              <a:ext uri="{FF2B5EF4-FFF2-40B4-BE49-F238E27FC236}">
                <a16:creationId xmlns:a16="http://schemas.microsoft.com/office/drawing/2014/main" id="{50148B77-A5DC-7008-BC4E-29416CAF3EED}"/>
              </a:ext>
            </a:extLst>
          </p:cNvPr>
          <p:cNvSpPr txBox="1"/>
          <p:nvPr/>
        </p:nvSpPr>
        <p:spPr>
          <a:xfrm>
            <a:off x="10909278" y="3622081"/>
            <a:ext cx="6769122" cy="436017"/>
          </a:xfrm>
          <a:prstGeom prst="rect">
            <a:avLst/>
          </a:prstGeom>
        </p:spPr>
        <p:txBody>
          <a:bodyPr wrap="square" lIns="0" tIns="0" rIns="0" bIns="0" rtlCol="0" anchor="t">
            <a:spAutoFit/>
          </a:bodyPr>
          <a:lstStyle/>
          <a:p>
            <a:pPr>
              <a:lnSpc>
                <a:spcPts val="3419"/>
              </a:lnSpc>
            </a:pPr>
            <a:r>
              <a:rPr lang="en-US" altLang="ko-KR" sz="3000" b="1" dirty="0">
                <a:solidFill>
                  <a:srgbClr val="24242F"/>
                </a:solidFill>
                <a:latin typeface="Source Han Sans KR Medium"/>
                <a:ea typeface="Source Han Sans KR Medium"/>
                <a:cs typeface="Source Han Sans KR Medium"/>
                <a:sym typeface="Source Han Sans KR Medium"/>
              </a:rPr>
              <a:t>Preprocessing &amp; Machine Leaning</a:t>
            </a:r>
            <a:endParaRPr lang="en-US" sz="3000" b="1" dirty="0">
              <a:solidFill>
                <a:srgbClr val="24242F"/>
              </a:solidFill>
              <a:latin typeface="Source Han Sans KR Medium"/>
              <a:ea typeface="Source Han Sans KR Medium"/>
              <a:cs typeface="Source Han Sans KR Medium"/>
              <a:sym typeface="Source Han Sans KR Medium"/>
            </a:endParaRPr>
          </a:p>
        </p:txBody>
      </p:sp>
      <p:sp>
        <p:nvSpPr>
          <p:cNvPr id="12" name="TextBox 12">
            <a:extLst>
              <a:ext uri="{FF2B5EF4-FFF2-40B4-BE49-F238E27FC236}">
                <a16:creationId xmlns:a16="http://schemas.microsoft.com/office/drawing/2014/main" id="{17207586-DAF5-154F-9DD7-DD139F8C32A2}"/>
              </a:ext>
            </a:extLst>
          </p:cNvPr>
          <p:cNvSpPr txBox="1"/>
          <p:nvPr/>
        </p:nvSpPr>
        <p:spPr>
          <a:xfrm>
            <a:off x="10909278" y="4774612"/>
            <a:ext cx="4102122" cy="441960"/>
          </a:xfrm>
          <a:prstGeom prst="rect">
            <a:avLst/>
          </a:prstGeom>
        </p:spPr>
        <p:txBody>
          <a:bodyPr wrap="square" lIns="0" tIns="0" rIns="0" bIns="0" rtlCol="0" anchor="t">
            <a:spAutoFit/>
          </a:bodyPr>
          <a:lstStyle/>
          <a:p>
            <a:pPr algn="l">
              <a:lnSpc>
                <a:spcPts val="3419"/>
              </a:lnSpc>
            </a:pPr>
            <a:r>
              <a:rPr lang="en-US" sz="3000" b="1" dirty="0">
                <a:solidFill>
                  <a:srgbClr val="24242F"/>
                </a:solidFill>
                <a:latin typeface="Source Han Sans KR Medium"/>
                <a:ea typeface="Source Han Sans KR Medium"/>
                <a:cs typeface="Source Han Sans KR Medium"/>
                <a:sym typeface="Source Han Sans KR Medium"/>
              </a:rPr>
              <a:t>Result</a:t>
            </a:r>
          </a:p>
        </p:txBody>
      </p:sp>
      <p:sp>
        <p:nvSpPr>
          <p:cNvPr id="16" name="TextBox 16">
            <a:extLst>
              <a:ext uri="{FF2B5EF4-FFF2-40B4-BE49-F238E27FC236}">
                <a16:creationId xmlns:a16="http://schemas.microsoft.com/office/drawing/2014/main" id="{654C347D-71C2-288E-B77D-7207E665713D}"/>
              </a:ext>
            </a:extLst>
          </p:cNvPr>
          <p:cNvSpPr txBox="1"/>
          <p:nvPr/>
        </p:nvSpPr>
        <p:spPr>
          <a:xfrm>
            <a:off x="1432615" y="1288443"/>
            <a:ext cx="3444185" cy="1823704"/>
          </a:xfrm>
          <a:prstGeom prst="rect">
            <a:avLst/>
          </a:prstGeom>
        </p:spPr>
        <p:txBody>
          <a:bodyPr wrap="square" lIns="0" tIns="0" rIns="0" bIns="0" rtlCol="0" anchor="t">
            <a:spAutoFit/>
          </a:bodyPr>
          <a:lstStyle/>
          <a:p>
            <a:pPr algn="l">
              <a:lnSpc>
                <a:spcPts val="7260"/>
              </a:lnSpc>
            </a:pPr>
            <a:r>
              <a:rPr lang="en-US" sz="5855" b="1" dirty="0">
                <a:solidFill>
                  <a:srgbClr val="0F71FC"/>
                </a:solidFill>
                <a:latin typeface="Cabin Bold"/>
                <a:ea typeface="Cabin Bold"/>
                <a:cs typeface="Cabin Bold"/>
                <a:sym typeface="Cabin Bold"/>
              </a:rPr>
              <a:t>Table of</a:t>
            </a:r>
          </a:p>
          <a:p>
            <a:pPr algn="l">
              <a:lnSpc>
                <a:spcPts val="7260"/>
              </a:lnSpc>
            </a:pPr>
            <a:r>
              <a:rPr lang="en-US" sz="5855" b="1" dirty="0">
                <a:solidFill>
                  <a:srgbClr val="0F71FC"/>
                </a:solidFill>
                <a:latin typeface="Cabin Bold"/>
                <a:ea typeface="Cabin Bold"/>
                <a:cs typeface="Cabin Bold"/>
                <a:sym typeface="Cabin Bold"/>
              </a:rPr>
              <a:t>Contents</a:t>
            </a:r>
          </a:p>
        </p:txBody>
      </p:sp>
      <p:sp>
        <p:nvSpPr>
          <p:cNvPr id="17" name="TextBox 17">
            <a:extLst>
              <a:ext uri="{FF2B5EF4-FFF2-40B4-BE49-F238E27FC236}">
                <a16:creationId xmlns:a16="http://schemas.microsoft.com/office/drawing/2014/main" id="{204C590C-CA4E-2F79-F424-7B240588E5EC}"/>
              </a:ext>
            </a:extLst>
          </p:cNvPr>
          <p:cNvSpPr txBox="1"/>
          <p:nvPr/>
        </p:nvSpPr>
        <p:spPr>
          <a:xfrm>
            <a:off x="10107226" y="1317019"/>
            <a:ext cx="409575" cy="441960"/>
          </a:xfrm>
          <a:prstGeom prst="rect">
            <a:avLst/>
          </a:prstGeom>
        </p:spPr>
        <p:txBody>
          <a:bodyPr lIns="0" tIns="0" rIns="0" bIns="0" rtlCol="0" anchor="t">
            <a:spAutoFit/>
          </a:bodyPr>
          <a:lstStyle/>
          <a:p>
            <a:pPr algn="l">
              <a:lnSpc>
                <a:spcPts val="3419"/>
              </a:lnSpc>
            </a:pPr>
            <a:r>
              <a:rPr lang="en-US" sz="3000" b="1" dirty="0">
                <a:solidFill>
                  <a:srgbClr val="0F71FC"/>
                </a:solidFill>
                <a:latin typeface="Cabin Bold"/>
                <a:ea typeface="Cabin Bold"/>
                <a:cs typeface="Cabin Bold"/>
                <a:sym typeface="Cabin Bold"/>
              </a:rPr>
              <a:t>01</a:t>
            </a:r>
          </a:p>
        </p:txBody>
      </p:sp>
      <p:sp>
        <p:nvSpPr>
          <p:cNvPr id="18" name="TextBox 18">
            <a:extLst>
              <a:ext uri="{FF2B5EF4-FFF2-40B4-BE49-F238E27FC236}">
                <a16:creationId xmlns:a16="http://schemas.microsoft.com/office/drawing/2014/main" id="{D4A429F9-2865-59FF-189D-B2490D049CBE}"/>
              </a:ext>
            </a:extLst>
          </p:cNvPr>
          <p:cNvSpPr txBox="1"/>
          <p:nvPr/>
        </p:nvSpPr>
        <p:spPr>
          <a:xfrm>
            <a:off x="10107226" y="2469550"/>
            <a:ext cx="470595"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02</a:t>
            </a:r>
          </a:p>
        </p:txBody>
      </p:sp>
      <p:sp>
        <p:nvSpPr>
          <p:cNvPr id="19" name="TextBox 19">
            <a:extLst>
              <a:ext uri="{FF2B5EF4-FFF2-40B4-BE49-F238E27FC236}">
                <a16:creationId xmlns:a16="http://schemas.microsoft.com/office/drawing/2014/main" id="{1AAB9C6A-CAFF-0C4A-235E-403B8EDB2786}"/>
              </a:ext>
            </a:extLst>
          </p:cNvPr>
          <p:cNvSpPr txBox="1"/>
          <p:nvPr/>
        </p:nvSpPr>
        <p:spPr>
          <a:xfrm>
            <a:off x="10107226" y="3622081"/>
            <a:ext cx="474390"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03</a:t>
            </a:r>
          </a:p>
        </p:txBody>
      </p:sp>
      <p:sp>
        <p:nvSpPr>
          <p:cNvPr id="20" name="TextBox 20">
            <a:extLst>
              <a:ext uri="{FF2B5EF4-FFF2-40B4-BE49-F238E27FC236}">
                <a16:creationId xmlns:a16="http://schemas.microsoft.com/office/drawing/2014/main" id="{E04EE8BE-39A5-0473-CE80-3744240B49F5}"/>
              </a:ext>
            </a:extLst>
          </p:cNvPr>
          <p:cNvSpPr txBox="1"/>
          <p:nvPr/>
        </p:nvSpPr>
        <p:spPr>
          <a:xfrm>
            <a:off x="10107226" y="4774612"/>
            <a:ext cx="505644" cy="441960"/>
          </a:xfrm>
          <a:prstGeom prst="rect">
            <a:avLst/>
          </a:prstGeom>
        </p:spPr>
        <p:txBody>
          <a:bodyPr lIns="0" tIns="0" rIns="0" bIns="0" rtlCol="0" anchor="t">
            <a:spAutoFit/>
          </a:bodyPr>
          <a:lstStyle/>
          <a:p>
            <a:pPr algn="l">
              <a:lnSpc>
                <a:spcPts val="3419"/>
              </a:lnSpc>
            </a:pPr>
            <a:r>
              <a:rPr lang="en-US" sz="3000" b="1">
                <a:solidFill>
                  <a:srgbClr val="0F71FC"/>
                </a:solidFill>
                <a:latin typeface="Cabin Bold"/>
                <a:ea typeface="Cabin Bold"/>
                <a:cs typeface="Cabin Bold"/>
                <a:sym typeface="Cabin Bold"/>
              </a:rPr>
              <a:t>04</a:t>
            </a:r>
          </a:p>
        </p:txBody>
      </p:sp>
    </p:spTree>
    <p:extLst>
      <p:ext uri="{BB962C8B-B14F-4D97-AF65-F5344CB8AC3E}">
        <p14:creationId xmlns:p14="http://schemas.microsoft.com/office/powerpoint/2010/main" val="3863837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82195-CD01-9896-0C87-B27743936D6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541149F-63FA-821F-8943-1DE69A6F0ABB}"/>
              </a:ext>
            </a:extLst>
          </p:cNvPr>
          <p:cNvSpPr txBox="1"/>
          <p:nvPr/>
        </p:nvSpPr>
        <p:spPr>
          <a:xfrm>
            <a:off x="1447800" y="1943100"/>
            <a:ext cx="89154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Why We Chose This Dataset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20" name="TextBox 20">
            <a:extLst>
              <a:ext uri="{FF2B5EF4-FFF2-40B4-BE49-F238E27FC236}">
                <a16:creationId xmlns:a16="http://schemas.microsoft.com/office/drawing/2014/main" id="{81B2FB35-2700-F2FB-D96B-65C90CAEBC62}"/>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C3DE7C77-7711-CF92-8A78-6C07822BC619}"/>
              </a:ext>
            </a:extLst>
          </p:cNvPr>
          <p:cNvSpPr/>
          <p:nvPr/>
        </p:nvSpPr>
        <p:spPr>
          <a:xfrm>
            <a:off x="9144000" y="942974"/>
            <a:ext cx="8416924" cy="1"/>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3" name="그림 2" descr="Universal Robots UR3 &amp; UR3e | MYBOTSHOP.DE, € 23.681,00">
            <a:extLst>
              <a:ext uri="{FF2B5EF4-FFF2-40B4-BE49-F238E27FC236}">
                <a16:creationId xmlns:a16="http://schemas.microsoft.com/office/drawing/2014/main" id="{D14D353F-E8B1-EDBA-F046-2D765278B0B4}"/>
              </a:ext>
            </a:extLst>
          </p:cNvPr>
          <p:cNvPicPr>
            <a:picLocks noChangeAspect="1"/>
          </p:cNvPicPr>
          <p:nvPr/>
        </p:nvPicPr>
        <p:blipFill>
          <a:blip r:embed="rId2"/>
          <a:stretch>
            <a:fillRect/>
          </a:stretch>
        </p:blipFill>
        <p:spPr>
          <a:xfrm>
            <a:off x="6083916" y="3086100"/>
            <a:ext cx="5346084" cy="5346084"/>
          </a:xfrm>
          <a:prstGeom prst="rect">
            <a:avLst/>
          </a:prstGeom>
        </p:spPr>
      </p:pic>
    </p:spTree>
    <p:extLst>
      <p:ext uri="{BB962C8B-B14F-4D97-AF65-F5344CB8AC3E}">
        <p14:creationId xmlns:p14="http://schemas.microsoft.com/office/powerpoint/2010/main" val="510019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2D352-F78E-9231-CAED-A1F4A797BF78}"/>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4F62D68-2C38-E8B3-198A-76F6627429D6}"/>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3446DD2-4BF1-9B23-8217-5731065E6055}"/>
              </a:ext>
            </a:extLst>
          </p:cNvPr>
          <p:cNvSpPr/>
          <p:nvPr/>
        </p:nvSpPr>
        <p:spPr>
          <a:xfrm>
            <a:off x="8458199" y="942974"/>
            <a:ext cx="9102725" cy="1"/>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3" name="그림 2">
            <a:extLst>
              <a:ext uri="{FF2B5EF4-FFF2-40B4-BE49-F238E27FC236}">
                <a16:creationId xmlns:a16="http://schemas.microsoft.com/office/drawing/2014/main" id="{BB80465A-EB3F-F309-8824-02ED5AA8D1C9}"/>
              </a:ext>
            </a:extLst>
          </p:cNvPr>
          <p:cNvPicPr>
            <a:picLocks noChangeAspect="1"/>
          </p:cNvPicPr>
          <p:nvPr/>
        </p:nvPicPr>
        <p:blipFill>
          <a:blip r:embed="rId2"/>
          <a:stretch>
            <a:fillRect/>
          </a:stretch>
        </p:blipFill>
        <p:spPr>
          <a:xfrm>
            <a:off x="4356099" y="1491941"/>
            <a:ext cx="7804151" cy="782877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잉크 5">
                <a:extLst>
                  <a:ext uri="{FF2B5EF4-FFF2-40B4-BE49-F238E27FC236}">
                    <a16:creationId xmlns:a16="http://schemas.microsoft.com/office/drawing/2014/main" id="{10E2E3CF-C9BF-06E7-9441-034F76F4CCA0}"/>
                  </a:ext>
                </a:extLst>
              </p14:cNvPr>
              <p14:cNvContentPartPr/>
              <p14:nvPr/>
            </p14:nvContentPartPr>
            <p14:xfrm>
              <a:off x="3832759" y="1212571"/>
              <a:ext cx="7660440" cy="8056800"/>
            </p14:xfrm>
          </p:contentPart>
        </mc:Choice>
        <mc:Fallback xmlns="">
          <p:pic>
            <p:nvPicPr>
              <p:cNvPr id="6" name="잉크 5">
                <a:extLst>
                  <a:ext uri="{FF2B5EF4-FFF2-40B4-BE49-F238E27FC236}">
                    <a16:creationId xmlns:a16="http://schemas.microsoft.com/office/drawing/2014/main" id="{10E2E3CF-C9BF-06E7-9441-034F76F4CCA0}"/>
                  </a:ext>
                </a:extLst>
              </p:cNvPr>
              <p:cNvPicPr/>
              <p:nvPr/>
            </p:nvPicPr>
            <p:blipFill>
              <a:blip r:embed="rId4"/>
              <a:stretch>
                <a:fillRect/>
              </a:stretch>
            </p:blipFill>
            <p:spPr>
              <a:xfrm>
                <a:off x="3796759" y="1176931"/>
                <a:ext cx="7732080" cy="8128440"/>
              </a:xfrm>
              <a:prstGeom prst="rect">
                <a:avLst/>
              </a:prstGeom>
            </p:spPr>
          </p:pic>
        </mc:Fallback>
      </mc:AlternateContent>
    </p:spTree>
    <p:extLst>
      <p:ext uri="{BB962C8B-B14F-4D97-AF65-F5344CB8AC3E}">
        <p14:creationId xmlns:p14="http://schemas.microsoft.com/office/powerpoint/2010/main" val="4258949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DC4F0-6452-1C0B-66EE-646A12A02F4A}"/>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DECDD8D-1247-0C3E-BDFD-164C1E549850}"/>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55C9131E-0315-5F1B-7123-36686BAAEAFC}"/>
              </a:ext>
            </a:extLst>
          </p:cNvPr>
          <p:cNvSpPr/>
          <p:nvPr/>
        </p:nvSpPr>
        <p:spPr>
          <a:xfrm>
            <a:off x="8458199" y="942974"/>
            <a:ext cx="9102725" cy="1"/>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4" name="그림 3">
            <a:extLst>
              <a:ext uri="{FF2B5EF4-FFF2-40B4-BE49-F238E27FC236}">
                <a16:creationId xmlns:a16="http://schemas.microsoft.com/office/drawing/2014/main" id="{75663572-3736-430B-F08B-812861DA8A3C}"/>
              </a:ext>
            </a:extLst>
          </p:cNvPr>
          <p:cNvPicPr>
            <a:picLocks noChangeAspect="1"/>
          </p:cNvPicPr>
          <p:nvPr/>
        </p:nvPicPr>
        <p:blipFill>
          <a:blip r:embed="rId2"/>
          <a:stretch>
            <a:fillRect/>
          </a:stretch>
        </p:blipFill>
        <p:spPr>
          <a:xfrm>
            <a:off x="4202494" y="1627970"/>
            <a:ext cx="9578212" cy="8012797"/>
          </a:xfrm>
          <a:prstGeom prst="rect">
            <a:avLst/>
          </a:prstGeom>
        </p:spPr>
      </p:pic>
    </p:spTree>
    <p:extLst>
      <p:ext uri="{BB962C8B-B14F-4D97-AF65-F5344CB8AC3E}">
        <p14:creationId xmlns:p14="http://schemas.microsoft.com/office/powerpoint/2010/main" val="382393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23DF2-1428-2059-E722-2E51C28816C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B3497B2-C1DA-96A3-C3A3-BB64C8F1B6A7}"/>
              </a:ext>
            </a:extLst>
          </p:cNvPr>
          <p:cNvSpPr txBox="1"/>
          <p:nvPr/>
        </p:nvSpPr>
        <p:spPr>
          <a:xfrm>
            <a:off x="1447800" y="1943100"/>
            <a:ext cx="3657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Dataset review</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20" name="TextBox 20">
            <a:extLst>
              <a:ext uri="{FF2B5EF4-FFF2-40B4-BE49-F238E27FC236}">
                <a16:creationId xmlns:a16="http://schemas.microsoft.com/office/drawing/2014/main" id="{A6E72EEC-B1C5-B5D6-624D-8ECF9AC1824C}"/>
              </a:ext>
            </a:extLst>
          </p:cNvPr>
          <p:cNvSpPr txBox="1"/>
          <p:nvPr/>
        </p:nvSpPr>
        <p:spPr>
          <a:xfrm>
            <a:off x="698499" y="565150"/>
            <a:ext cx="82931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1. </a:t>
            </a:r>
            <a:r>
              <a:rPr lang="en-US" altLang="ko-KR" sz="4400" b="1" dirty="0">
                <a:solidFill>
                  <a:srgbClr val="0F71FC"/>
                </a:solidFill>
                <a:latin typeface="Source Han Sans KR Medium"/>
                <a:ea typeface="Source Han Sans KR Medium"/>
                <a:cs typeface="Source Han Sans KR Medium"/>
                <a:sym typeface="Source Han Sans KR Medium"/>
              </a:rPr>
              <a:t>Introduction to Dataset</a:t>
            </a:r>
          </a:p>
        </p:txBody>
      </p:sp>
      <p:sp>
        <p:nvSpPr>
          <p:cNvPr id="21" name="TextBox 21">
            <a:extLst>
              <a:ext uri="{FF2B5EF4-FFF2-40B4-BE49-F238E27FC236}">
                <a16:creationId xmlns:a16="http://schemas.microsoft.com/office/drawing/2014/main" id="{4AA7F8DF-C7BE-2792-DB5F-3F6AE5C8B067}"/>
              </a:ext>
            </a:extLst>
          </p:cNvPr>
          <p:cNvSpPr txBox="1"/>
          <p:nvPr/>
        </p:nvSpPr>
        <p:spPr>
          <a:xfrm>
            <a:off x="1447800" y="2933700"/>
            <a:ext cx="6477000" cy="4167808"/>
          </a:xfrm>
          <a:prstGeom prst="rect">
            <a:avLst/>
          </a:prstGeom>
        </p:spPr>
        <p:txBody>
          <a:bodyPr wrap="square" lIns="0" tIns="0" rIns="0" bIns="0" rtlCol="0" anchor="t">
            <a:spAutoFit/>
          </a:bodyPr>
          <a:lstStyle/>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7409 X 24</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Current_J0~J5</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Temperature_J0~J5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a:solidFill>
                  <a:srgbClr val="24242F"/>
                </a:solidFill>
                <a:latin typeface="Source Han Sans KR"/>
                <a:ea typeface="Source Han Sans KR"/>
                <a:cs typeface="Source Han Sans KR"/>
                <a:sym typeface="Source Han Sans KR"/>
              </a:rPr>
              <a:t>Speed_J0~J5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Tool_current</a:t>
            </a:r>
            <a:r>
              <a:rPr lang="en-US" altLang="ko-KR" sz="2400" dirty="0">
                <a:solidFill>
                  <a:srgbClr val="24242F"/>
                </a:solidFill>
                <a:latin typeface="Source Han Sans KR"/>
                <a:ea typeface="Source Han Sans KR"/>
                <a:cs typeface="Source Han Sans KR"/>
                <a:sym typeface="Source Han Sans KR"/>
              </a:rPr>
              <a:t> 			</a:t>
            </a: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Robot_ProtectiveStop</a:t>
            </a: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endParaRPr lang="en-US" altLang="ko-KR" sz="2400" dirty="0">
              <a:solidFill>
                <a:srgbClr val="24242F"/>
              </a:solidFill>
              <a:latin typeface="Source Han Sans KR"/>
              <a:ea typeface="Source Han Sans KR"/>
              <a:cs typeface="Source Han Sans KR"/>
              <a:sym typeface="Source Han Sans KR"/>
            </a:endParaRPr>
          </a:p>
          <a:p>
            <a:pPr marL="0" lvl="0" indent="0" algn="l">
              <a:lnSpc>
                <a:spcPts val="2520"/>
              </a:lnSpc>
              <a:spcBef>
                <a:spcPct val="0"/>
              </a:spcBef>
            </a:pPr>
            <a:r>
              <a:rPr lang="en-US" altLang="ko-KR" sz="2400" dirty="0" err="1">
                <a:solidFill>
                  <a:srgbClr val="24242F"/>
                </a:solidFill>
                <a:latin typeface="Source Han Sans KR"/>
                <a:ea typeface="Source Han Sans KR"/>
                <a:cs typeface="Source Han Sans KR"/>
                <a:sym typeface="Source Han Sans KR"/>
              </a:rPr>
              <a:t>grip_lost</a:t>
            </a:r>
            <a:r>
              <a:rPr lang="en-US" altLang="ko-KR"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sp>
        <p:nvSpPr>
          <p:cNvPr id="24" name="AutoShape 24">
            <a:extLst>
              <a:ext uri="{FF2B5EF4-FFF2-40B4-BE49-F238E27FC236}">
                <a16:creationId xmlns:a16="http://schemas.microsoft.com/office/drawing/2014/main" id="{A1435657-A568-EDED-26CE-726A7661B782}"/>
              </a:ext>
            </a:extLst>
          </p:cNvPr>
          <p:cNvSpPr/>
          <p:nvPr/>
        </p:nvSpPr>
        <p:spPr>
          <a:xfrm flipV="1">
            <a:off x="9144000" y="942973"/>
            <a:ext cx="8416924" cy="9526"/>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5" name="그림 4">
            <a:extLst>
              <a:ext uri="{FF2B5EF4-FFF2-40B4-BE49-F238E27FC236}">
                <a16:creationId xmlns:a16="http://schemas.microsoft.com/office/drawing/2014/main" id="{2D379E5D-2F6A-D9B8-6D25-9FD796C563B0}"/>
              </a:ext>
            </a:extLst>
          </p:cNvPr>
          <p:cNvPicPr>
            <a:picLocks noChangeAspect="1"/>
          </p:cNvPicPr>
          <p:nvPr/>
        </p:nvPicPr>
        <p:blipFill>
          <a:blip r:embed="rId2"/>
          <a:stretch>
            <a:fillRect/>
          </a:stretch>
        </p:blipFill>
        <p:spPr>
          <a:xfrm>
            <a:off x="9601200" y="1300896"/>
            <a:ext cx="5739256" cy="8500596"/>
          </a:xfrm>
          <a:prstGeom prst="rect">
            <a:avLst/>
          </a:prstGeom>
        </p:spPr>
      </p:pic>
      <p:sp>
        <p:nvSpPr>
          <p:cNvPr id="8" name="직사각형 7">
            <a:extLst>
              <a:ext uri="{FF2B5EF4-FFF2-40B4-BE49-F238E27FC236}">
                <a16:creationId xmlns:a16="http://schemas.microsoft.com/office/drawing/2014/main" id="{686E1F0C-531B-4793-E008-8B7600EDCCCA}"/>
              </a:ext>
            </a:extLst>
          </p:cNvPr>
          <p:cNvSpPr/>
          <p:nvPr/>
        </p:nvSpPr>
        <p:spPr>
          <a:xfrm>
            <a:off x="9829800" y="2628900"/>
            <a:ext cx="2743200" cy="65532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863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CD3DE-DA1F-1EB1-F088-1C6372F77CC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2A16A4C-1001-F3F3-05E2-35A1998AE224}"/>
              </a:ext>
            </a:extLst>
          </p:cNvPr>
          <p:cNvSpPr txBox="1"/>
          <p:nvPr/>
        </p:nvSpPr>
        <p:spPr>
          <a:xfrm>
            <a:off x="3750525" y="2836719"/>
            <a:ext cx="2209800" cy="503792"/>
          </a:xfrm>
          <a:prstGeom prst="rect">
            <a:avLst/>
          </a:prstGeom>
        </p:spPr>
        <p:txBody>
          <a:bodyPr lIns="0" tIns="0" rIns="0" bIns="0" rtlCol="0" anchor="t">
            <a:spAutoFit/>
          </a:bodyPr>
          <a:lstStyle/>
          <a:p>
            <a:pPr marL="0" lvl="0" indent="0" algn="l">
              <a:lnSpc>
                <a:spcPts val="4200"/>
              </a:lnSpc>
              <a:spcBef>
                <a:spcPct val="0"/>
              </a:spcBef>
            </a:pPr>
            <a:r>
              <a:rPr lang="en-US" sz="3000" b="1" dirty="0">
                <a:solidFill>
                  <a:srgbClr val="24242F"/>
                </a:solidFill>
                <a:latin typeface="Source Han Sans KR Bold"/>
                <a:ea typeface="Source Han Sans KR Bold"/>
                <a:cs typeface="Source Han Sans KR Bold"/>
                <a:sym typeface="Source Han Sans KR Bold"/>
              </a:rPr>
              <a:t>Regression</a:t>
            </a:r>
            <a:endParaRPr lang="en-US" sz="3000" b="1" u="none" strike="noStrike" dirty="0">
              <a:solidFill>
                <a:srgbClr val="24242F"/>
              </a:solidFill>
              <a:latin typeface="Source Han Sans KR Bold"/>
              <a:ea typeface="Source Han Sans KR Bold"/>
              <a:cs typeface="Source Han Sans KR Bold"/>
              <a:sym typeface="Source Han Sans KR Bold"/>
            </a:endParaRPr>
          </a:p>
        </p:txBody>
      </p:sp>
      <p:sp>
        <p:nvSpPr>
          <p:cNvPr id="3" name="TextBox 3">
            <a:extLst>
              <a:ext uri="{FF2B5EF4-FFF2-40B4-BE49-F238E27FC236}">
                <a16:creationId xmlns:a16="http://schemas.microsoft.com/office/drawing/2014/main" id="{510098A9-B310-13D7-3B65-5913AB046217}"/>
              </a:ext>
            </a:extLst>
          </p:cNvPr>
          <p:cNvSpPr txBox="1"/>
          <p:nvPr/>
        </p:nvSpPr>
        <p:spPr>
          <a:xfrm>
            <a:off x="3750525" y="4980028"/>
            <a:ext cx="4405150" cy="503792"/>
          </a:xfrm>
          <a:prstGeom prst="rect">
            <a:avLst/>
          </a:prstGeom>
        </p:spPr>
        <p:txBody>
          <a:bodyPr wrap="square" lIns="0" tIns="0" rIns="0" bIns="0" rtlCol="0" anchor="t">
            <a:spAutoFit/>
          </a:bodyPr>
          <a:lstStyle/>
          <a:p>
            <a:pPr marL="0" lvl="0" indent="0" algn="l">
              <a:lnSpc>
                <a:spcPts val="4200"/>
              </a:lnSpc>
              <a:spcBef>
                <a:spcPct val="0"/>
              </a:spcBef>
            </a:pPr>
            <a:r>
              <a:rPr lang="en-US" sz="3000" b="1" u="none" strike="noStrike" dirty="0">
                <a:solidFill>
                  <a:srgbClr val="24242F"/>
                </a:solidFill>
                <a:latin typeface="Source Han Sans KR Bold"/>
                <a:ea typeface="Source Han Sans KR Bold"/>
                <a:cs typeface="Source Han Sans KR Bold"/>
                <a:sym typeface="Source Han Sans KR Bold"/>
              </a:rPr>
              <a:t>Classification</a:t>
            </a:r>
          </a:p>
        </p:txBody>
      </p:sp>
      <p:grpSp>
        <p:nvGrpSpPr>
          <p:cNvPr id="5" name="Group 5">
            <a:extLst>
              <a:ext uri="{FF2B5EF4-FFF2-40B4-BE49-F238E27FC236}">
                <a16:creationId xmlns:a16="http://schemas.microsoft.com/office/drawing/2014/main" id="{76CDFD4D-BC35-0B1C-22E3-22BA9FC36D25}"/>
              </a:ext>
            </a:extLst>
          </p:cNvPr>
          <p:cNvGrpSpPr/>
          <p:nvPr/>
        </p:nvGrpSpPr>
        <p:grpSpPr>
          <a:xfrm>
            <a:off x="1940253" y="2903394"/>
            <a:ext cx="1317527" cy="1295584"/>
            <a:chOff x="0" y="0"/>
            <a:chExt cx="1756702" cy="1727446"/>
          </a:xfrm>
        </p:grpSpPr>
        <p:grpSp>
          <p:nvGrpSpPr>
            <p:cNvPr id="6" name="Group 6">
              <a:extLst>
                <a:ext uri="{FF2B5EF4-FFF2-40B4-BE49-F238E27FC236}">
                  <a16:creationId xmlns:a16="http://schemas.microsoft.com/office/drawing/2014/main" id="{5E4B7366-B0C7-387D-2381-BAFB3222BECE}"/>
                </a:ext>
              </a:extLst>
            </p:cNvPr>
            <p:cNvGrpSpPr/>
            <p:nvPr/>
          </p:nvGrpSpPr>
          <p:grpSpPr>
            <a:xfrm>
              <a:off x="0" y="0"/>
              <a:ext cx="1756702" cy="1727446"/>
              <a:chOff x="0" y="0"/>
              <a:chExt cx="256946" cy="252667"/>
            </a:xfrm>
          </p:grpSpPr>
          <p:sp>
            <p:nvSpPr>
              <p:cNvPr id="7" name="Freeform 7">
                <a:extLst>
                  <a:ext uri="{FF2B5EF4-FFF2-40B4-BE49-F238E27FC236}">
                    <a16:creationId xmlns:a16="http://schemas.microsoft.com/office/drawing/2014/main" id="{27DD1F56-1457-D4B2-FDBE-9E469739ABF5}"/>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8" name="TextBox 8">
                <a:extLst>
                  <a:ext uri="{FF2B5EF4-FFF2-40B4-BE49-F238E27FC236}">
                    <a16:creationId xmlns:a16="http://schemas.microsoft.com/office/drawing/2014/main" id="{798ED149-7FB1-89D6-98A9-67FE02DB5746}"/>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9" name="TextBox 9">
              <a:extLst>
                <a:ext uri="{FF2B5EF4-FFF2-40B4-BE49-F238E27FC236}">
                  <a16:creationId xmlns:a16="http://schemas.microsoft.com/office/drawing/2014/main" id="{25E4A9EF-C22E-179E-7BF8-272F52322C6A}"/>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01</a:t>
              </a:r>
            </a:p>
          </p:txBody>
        </p:sp>
      </p:grpSp>
      <p:grpSp>
        <p:nvGrpSpPr>
          <p:cNvPr id="10" name="Group 10">
            <a:extLst>
              <a:ext uri="{FF2B5EF4-FFF2-40B4-BE49-F238E27FC236}">
                <a16:creationId xmlns:a16="http://schemas.microsoft.com/office/drawing/2014/main" id="{6BBDD7F5-876C-FC83-114C-2FF7593E5228}"/>
              </a:ext>
            </a:extLst>
          </p:cNvPr>
          <p:cNvGrpSpPr/>
          <p:nvPr/>
        </p:nvGrpSpPr>
        <p:grpSpPr>
          <a:xfrm>
            <a:off x="1940253" y="5046703"/>
            <a:ext cx="1317527" cy="1295584"/>
            <a:chOff x="0" y="0"/>
            <a:chExt cx="1756702" cy="1727446"/>
          </a:xfrm>
        </p:grpSpPr>
        <p:grpSp>
          <p:nvGrpSpPr>
            <p:cNvPr id="11" name="Group 11">
              <a:extLst>
                <a:ext uri="{FF2B5EF4-FFF2-40B4-BE49-F238E27FC236}">
                  <a16:creationId xmlns:a16="http://schemas.microsoft.com/office/drawing/2014/main" id="{ED99823B-1B68-CE45-3E2D-7CAC9EC8C722}"/>
                </a:ext>
              </a:extLst>
            </p:cNvPr>
            <p:cNvGrpSpPr/>
            <p:nvPr/>
          </p:nvGrpSpPr>
          <p:grpSpPr>
            <a:xfrm>
              <a:off x="0" y="0"/>
              <a:ext cx="1756702" cy="1727446"/>
              <a:chOff x="0" y="0"/>
              <a:chExt cx="256946" cy="252667"/>
            </a:xfrm>
          </p:grpSpPr>
          <p:sp>
            <p:nvSpPr>
              <p:cNvPr id="12" name="Freeform 12">
                <a:extLst>
                  <a:ext uri="{FF2B5EF4-FFF2-40B4-BE49-F238E27FC236}">
                    <a16:creationId xmlns:a16="http://schemas.microsoft.com/office/drawing/2014/main" id="{1044BE58-9DEE-35B1-4FC4-F973E2F76E74}"/>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13" name="TextBox 13">
                <a:extLst>
                  <a:ext uri="{FF2B5EF4-FFF2-40B4-BE49-F238E27FC236}">
                    <a16:creationId xmlns:a16="http://schemas.microsoft.com/office/drawing/2014/main" id="{20CE0989-CEC4-B7DC-3926-B7F16F7E175B}"/>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14" name="TextBox 14">
              <a:extLst>
                <a:ext uri="{FF2B5EF4-FFF2-40B4-BE49-F238E27FC236}">
                  <a16:creationId xmlns:a16="http://schemas.microsoft.com/office/drawing/2014/main" id="{04089E80-2380-70D5-7310-E1D61B0B843F}"/>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02</a:t>
              </a:r>
            </a:p>
          </p:txBody>
        </p:sp>
      </p:grpSp>
      <p:sp>
        <p:nvSpPr>
          <p:cNvPr id="20" name="TextBox 20">
            <a:extLst>
              <a:ext uri="{FF2B5EF4-FFF2-40B4-BE49-F238E27FC236}">
                <a16:creationId xmlns:a16="http://schemas.microsoft.com/office/drawing/2014/main" id="{2E5E8443-C68A-0720-07B6-EFCBD10E0BC7}"/>
              </a:ext>
            </a:extLst>
          </p:cNvPr>
          <p:cNvSpPr txBox="1"/>
          <p:nvPr/>
        </p:nvSpPr>
        <p:spPr>
          <a:xfrm>
            <a:off x="698500" y="565150"/>
            <a:ext cx="7988300"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2. Problem Definition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1" name="TextBox 21">
            <a:extLst>
              <a:ext uri="{FF2B5EF4-FFF2-40B4-BE49-F238E27FC236}">
                <a16:creationId xmlns:a16="http://schemas.microsoft.com/office/drawing/2014/main" id="{E81D1AFF-A6CD-7373-0405-B9E993C04E23}"/>
              </a:ext>
            </a:extLst>
          </p:cNvPr>
          <p:cNvSpPr txBox="1"/>
          <p:nvPr/>
        </p:nvSpPr>
        <p:spPr>
          <a:xfrm>
            <a:off x="3750525" y="3568423"/>
            <a:ext cx="12608008" cy="320601"/>
          </a:xfrm>
          <a:prstGeom prst="rect">
            <a:avLst/>
          </a:prstGeom>
        </p:spPr>
        <p:txBody>
          <a:bodyPr lIns="0" tIns="0" rIns="0" bIns="0" rtlCol="0" anchor="t">
            <a:spAutoFit/>
          </a:bodyPr>
          <a:lstStyle/>
          <a:p>
            <a:pPr marL="0" lvl="0" indent="0" algn="l">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Tool Current Prediction</a:t>
            </a:r>
            <a:endParaRPr lang="en-US" sz="2200" dirty="0">
              <a:solidFill>
                <a:srgbClr val="24242F"/>
              </a:solidFill>
              <a:latin typeface="Source Han Sans KR"/>
              <a:ea typeface="Source Han Sans KR"/>
              <a:cs typeface="Source Han Sans KR"/>
              <a:sym typeface="Source Han Sans KR"/>
            </a:endParaRPr>
          </a:p>
        </p:txBody>
      </p:sp>
      <p:sp>
        <p:nvSpPr>
          <p:cNvPr id="22" name="TextBox 22">
            <a:extLst>
              <a:ext uri="{FF2B5EF4-FFF2-40B4-BE49-F238E27FC236}">
                <a16:creationId xmlns:a16="http://schemas.microsoft.com/office/drawing/2014/main" id="{D576E890-03B6-3AAC-09B9-E2E53DE527DC}"/>
              </a:ext>
            </a:extLst>
          </p:cNvPr>
          <p:cNvSpPr txBox="1"/>
          <p:nvPr/>
        </p:nvSpPr>
        <p:spPr>
          <a:xfrm>
            <a:off x="3750525" y="5711733"/>
            <a:ext cx="12608008" cy="320601"/>
          </a:xfrm>
          <a:prstGeom prst="rect">
            <a:avLst/>
          </a:prstGeom>
        </p:spPr>
        <p:txBody>
          <a:bodyPr lIns="0" tIns="0" rIns="0" bIns="0" rtlCol="0" anchor="t">
            <a:spAutoFit/>
          </a:bodyPr>
          <a:lstStyle/>
          <a:p>
            <a:pPr lvl="0">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System Failure Prediction</a:t>
            </a:r>
            <a:endParaRPr lang="en-US" sz="2200" dirty="0">
              <a:solidFill>
                <a:srgbClr val="24242F"/>
              </a:solidFill>
              <a:latin typeface="Source Han Sans KR"/>
              <a:ea typeface="Source Han Sans KR"/>
              <a:cs typeface="Source Han Sans KR"/>
              <a:sym typeface="Source Han Sans KR"/>
            </a:endParaRPr>
          </a:p>
        </p:txBody>
      </p:sp>
      <p:sp>
        <p:nvSpPr>
          <p:cNvPr id="24" name="AutoShape 24">
            <a:extLst>
              <a:ext uri="{FF2B5EF4-FFF2-40B4-BE49-F238E27FC236}">
                <a16:creationId xmlns:a16="http://schemas.microsoft.com/office/drawing/2014/main" id="{9430BBFA-1BC4-D35B-22D3-563E3458A2FE}"/>
              </a:ext>
            </a:extLst>
          </p:cNvPr>
          <p:cNvSpPr/>
          <p:nvPr/>
        </p:nvSpPr>
        <p:spPr>
          <a:xfrm flipV="1">
            <a:off x="7391399" y="942972"/>
            <a:ext cx="10169525" cy="9527"/>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6" name="TextBox 2">
            <a:extLst>
              <a:ext uri="{FF2B5EF4-FFF2-40B4-BE49-F238E27FC236}">
                <a16:creationId xmlns:a16="http://schemas.microsoft.com/office/drawing/2014/main" id="{293B42B8-1180-E365-C3C4-E9070605E57C}"/>
              </a:ext>
            </a:extLst>
          </p:cNvPr>
          <p:cNvSpPr txBox="1"/>
          <p:nvPr/>
        </p:nvSpPr>
        <p:spPr>
          <a:xfrm>
            <a:off x="1937978" y="1897303"/>
            <a:ext cx="3657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Purpose</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4" name="TextBox 3">
            <a:extLst>
              <a:ext uri="{FF2B5EF4-FFF2-40B4-BE49-F238E27FC236}">
                <a16:creationId xmlns:a16="http://schemas.microsoft.com/office/drawing/2014/main" id="{ADB92D18-DF50-D909-C35B-F9DB9DFBD965}"/>
              </a:ext>
            </a:extLst>
          </p:cNvPr>
          <p:cNvSpPr txBox="1"/>
          <p:nvPr/>
        </p:nvSpPr>
        <p:spPr>
          <a:xfrm>
            <a:off x="3758486" y="7306529"/>
            <a:ext cx="4405150" cy="503792"/>
          </a:xfrm>
          <a:prstGeom prst="rect">
            <a:avLst/>
          </a:prstGeom>
        </p:spPr>
        <p:txBody>
          <a:bodyPr wrap="square" lIns="0" tIns="0" rIns="0" bIns="0" rtlCol="0" anchor="t">
            <a:spAutoFit/>
          </a:bodyPr>
          <a:lstStyle/>
          <a:p>
            <a:pPr marL="0" lvl="0" indent="0" algn="l">
              <a:lnSpc>
                <a:spcPts val="4200"/>
              </a:lnSpc>
              <a:spcBef>
                <a:spcPct val="0"/>
              </a:spcBef>
            </a:pPr>
            <a:r>
              <a:rPr lang="en-US" sz="3000" b="1" u="none" strike="noStrike" dirty="0">
                <a:solidFill>
                  <a:srgbClr val="24242F"/>
                </a:solidFill>
                <a:latin typeface="Source Han Sans KR Bold"/>
                <a:ea typeface="Source Han Sans KR Bold"/>
                <a:cs typeface="Source Han Sans KR Bold"/>
                <a:sym typeface="Source Han Sans KR Bold"/>
              </a:rPr>
              <a:t>Clustering</a:t>
            </a:r>
          </a:p>
        </p:txBody>
      </p:sp>
      <p:grpSp>
        <p:nvGrpSpPr>
          <p:cNvPr id="15" name="Group 10">
            <a:extLst>
              <a:ext uri="{FF2B5EF4-FFF2-40B4-BE49-F238E27FC236}">
                <a16:creationId xmlns:a16="http://schemas.microsoft.com/office/drawing/2014/main" id="{3D59C0F0-DC29-5AD8-315E-0381EC0FFE91}"/>
              </a:ext>
            </a:extLst>
          </p:cNvPr>
          <p:cNvGrpSpPr/>
          <p:nvPr/>
        </p:nvGrpSpPr>
        <p:grpSpPr>
          <a:xfrm>
            <a:off x="1948214" y="7373204"/>
            <a:ext cx="1317527" cy="1295584"/>
            <a:chOff x="0" y="0"/>
            <a:chExt cx="1756702" cy="1727446"/>
          </a:xfrm>
        </p:grpSpPr>
        <p:grpSp>
          <p:nvGrpSpPr>
            <p:cNvPr id="16" name="Group 11">
              <a:extLst>
                <a:ext uri="{FF2B5EF4-FFF2-40B4-BE49-F238E27FC236}">
                  <a16:creationId xmlns:a16="http://schemas.microsoft.com/office/drawing/2014/main" id="{CF28D5D8-7944-98AF-AA22-73BC5AF90DBF}"/>
                </a:ext>
              </a:extLst>
            </p:cNvPr>
            <p:cNvGrpSpPr/>
            <p:nvPr/>
          </p:nvGrpSpPr>
          <p:grpSpPr>
            <a:xfrm>
              <a:off x="0" y="0"/>
              <a:ext cx="1756702" cy="1727446"/>
              <a:chOff x="0" y="0"/>
              <a:chExt cx="256946" cy="252667"/>
            </a:xfrm>
          </p:grpSpPr>
          <p:sp>
            <p:nvSpPr>
              <p:cNvPr id="18" name="Freeform 12">
                <a:extLst>
                  <a:ext uri="{FF2B5EF4-FFF2-40B4-BE49-F238E27FC236}">
                    <a16:creationId xmlns:a16="http://schemas.microsoft.com/office/drawing/2014/main" id="{A28A9561-0804-C01A-88D6-DB62E3D3EA67}"/>
                  </a:ext>
                </a:extLst>
              </p:cNvPr>
              <p:cNvSpPr/>
              <p:nvPr/>
            </p:nvSpPr>
            <p:spPr>
              <a:xfrm>
                <a:off x="0" y="0"/>
                <a:ext cx="256946" cy="252667"/>
              </a:xfrm>
              <a:custGeom>
                <a:avLst/>
                <a:gdLst/>
                <a:ahLst/>
                <a:cxnLst/>
                <a:rect l="l" t="t" r="r" b="b"/>
                <a:pathLst>
                  <a:path w="256946" h="252667">
                    <a:moveTo>
                      <a:pt x="94018" y="0"/>
                    </a:moveTo>
                    <a:lnTo>
                      <a:pt x="162929" y="0"/>
                    </a:lnTo>
                    <a:cubicBezTo>
                      <a:pt x="214853" y="0"/>
                      <a:pt x="256946" y="42093"/>
                      <a:pt x="256946" y="94018"/>
                    </a:cubicBezTo>
                    <a:lnTo>
                      <a:pt x="256946" y="158649"/>
                    </a:lnTo>
                    <a:cubicBezTo>
                      <a:pt x="256946" y="210574"/>
                      <a:pt x="214853" y="252667"/>
                      <a:pt x="162929" y="252667"/>
                    </a:cubicBezTo>
                    <a:lnTo>
                      <a:pt x="94018" y="252667"/>
                    </a:lnTo>
                    <a:cubicBezTo>
                      <a:pt x="42093" y="252667"/>
                      <a:pt x="0" y="210574"/>
                      <a:pt x="0" y="158649"/>
                    </a:cubicBezTo>
                    <a:lnTo>
                      <a:pt x="0" y="94018"/>
                    </a:lnTo>
                    <a:cubicBezTo>
                      <a:pt x="0" y="42093"/>
                      <a:pt x="42093" y="0"/>
                      <a:pt x="94018" y="0"/>
                    </a:cubicBezTo>
                    <a:close/>
                  </a:path>
                </a:pathLst>
              </a:custGeom>
              <a:solidFill>
                <a:srgbClr val="FFFFFF"/>
              </a:solidFill>
            </p:spPr>
            <p:txBody>
              <a:bodyPr/>
              <a:lstStyle/>
              <a:p>
                <a:endParaRPr lang="ko-KR" altLang="en-US"/>
              </a:p>
            </p:txBody>
          </p:sp>
          <p:sp>
            <p:nvSpPr>
              <p:cNvPr id="19" name="TextBox 13">
                <a:extLst>
                  <a:ext uri="{FF2B5EF4-FFF2-40B4-BE49-F238E27FC236}">
                    <a16:creationId xmlns:a16="http://schemas.microsoft.com/office/drawing/2014/main" id="{B7E2C57E-FC39-BE9C-1CEA-C6E195FCB6A0}"/>
                  </a:ext>
                </a:extLst>
              </p:cNvPr>
              <p:cNvSpPr txBox="1"/>
              <p:nvPr/>
            </p:nvSpPr>
            <p:spPr>
              <a:xfrm>
                <a:off x="0" y="-38100"/>
                <a:ext cx="256946" cy="290767"/>
              </a:xfrm>
              <a:prstGeom prst="rect">
                <a:avLst/>
              </a:prstGeom>
            </p:spPr>
            <p:txBody>
              <a:bodyPr lIns="68605" tIns="68605" rIns="68605" bIns="68605" rtlCol="0" anchor="ctr"/>
              <a:lstStyle/>
              <a:p>
                <a:pPr algn="ctr">
                  <a:lnSpc>
                    <a:spcPts val="3499"/>
                  </a:lnSpc>
                </a:pPr>
                <a:endParaRPr/>
              </a:p>
            </p:txBody>
          </p:sp>
        </p:grpSp>
        <p:sp>
          <p:nvSpPr>
            <p:cNvPr id="17" name="TextBox 14">
              <a:extLst>
                <a:ext uri="{FF2B5EF4-FFF2-40B4-BE49-F238E27FC236}">
                  <a16:creationId xmlns:a16="http://schemas.microsoft.com/office/drawing/2014/main" id="{82D9EBBD-AB22-934A-3AB1-6BC1ED9C1E9D}"/>
                </a:ext>
              </a:extLst>
            </p:cNvPr>
            <p:cNvSpPr txBox="1"/>
            <p:nvPr/>
          </p:nvSpPr>
          <p:spPr>
            <a:xfrm>
              <a:off x="0" y="174625"/>
              <a:ext cx="1756702" cy="1294153"/>
            </a:xfrm>
            <a:prstGeom prst="rect">
              <a:avLst/>
            </a:prstGeom>
          </p:spPr>
          <p:txBody>
            <a:bodyPr lIns="0" tIns="0" rIns="0" bIns="0" rtlCol="0" anchor="t">
              <a:spAutoFit/>
            </a:bodyPr>
            <a:lstStyle/>
            <a:p>
              <a:pPr algn="ctr">
                <a:lnSpc>
                  <a:spcPts val="8194"/>
                </a:lnSpc>
                <a:spcBef>
                  <a:spcPct val="0"/>
                </a:spcBef>
              </a:pPr>
              <a:r>
                <a:rPr lang="en-US" sz="5853" b="1" dirty="0">
                  <a:solidFill>
                    <a:srgbClr val="0F71FC"/>
                  </a:solidFill>
                  <a:latin typeface="Cabin Bold"/>
                  <a:ea typeface="Cabin Bold"/>
                  <a:cs typeface="Cabin Bold"/>
                  <a:sym typeface="Cabin Bold"/>
                </a:rPr>
                <a:t>03</a:t>
              </a:r>
            </a:p>
          </p:txBody>
        </p:sp>
      </p:grpSp>
      <p:sp>
        <p:nvSpPr>
          <p:cNvPr id="25" name="TextBox 22">
            <a:extLst>
              <a:ext uri="{FF2B5EF4-FFF2-40B4-BE49-F238E27FC236}">
                <a16:creationId xmlns:a16="http://schemas.microsoft.com/office/drawing/2014/main" id="{87ACEDD4-AA54-030F-FCC8-A479D968A78A}"/>
              </a:ext>
            </a:extLst>
          </p:cNvPr>
          <p:cNvSpPr txBox="1"/>
          <p:nvPr/>
        </p:nvSpPr>
        <p:spPr>
          <a:xfrm>
            <a:off x="3770190" y="8038139"/>
            <a:ext cx="12608008" cy="320601"/>
          </a:xfrm>
          <a:prstGeom prst="rect">
            <a:avLst/>
          </a:prstGeom>
        </p:spPr>
        <p:txBody>
          <a:bodyPr lIns="0" tIns="0" rIns="0" bIns="0" rtlCol="0" anchor="t">
            <a:spAutoFit/>
          </a:bodyPr>
          <a:lstStyle/>
          <a:p>
            <a:pPr lvl="0">
              <a:lnSpc>
                <a:spcPts val="2520"/>
              </a:lnSpc>
              <a:spcBef>
                <a:spcPct val="0"/>
              </a:spcBef>
            </a:pPr>
            <a:r>
              <a:rPr lang="en-US" altLang="ko-KR" sz="2200" dirty="0">
                <a:solidFill>
                  <a:srgbClr val="24242F"/>
                </a:solidFill>
                <a:latin typeface="Source Han Sans KR"/>
                <a:ea typeface="Source Han Sans KR"/>
                <a:cs typeface="Source Han Sans KR"/>
                <a:sym typeface="Source Han Sans KR"/>
              </a:rPr>
              <a:t>Payload State Discovery</a:t>
            </a:r>
            <a:endParaRPr lang="en-US" sz="22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3921056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8E28E-1DA2-50B1-861B-976F80230D1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5960BA4-F601-B469-E100-B9EEC0B25A6A}"/>
              </a:ext>
            </a:extLst>
          </p:cNvPr>
          <p:cNvSpPr txBox="1"/>
          <p:nvPr/>
        </p:nvSpPr>
        <p:spPr>
          <a:xfrm>
            <a:off x="1447800" y="1943100"/>
            <a:ext cx="60960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err="1">
                <a:solidFill>
                  <a:srgbClr val="24242F"/>
                </a:solidFill>
                <a:latin typeface="Source Han Sans KR Bold"/>
                <a:ea typeface="Source Han Sans KR Bold"/>
                <a:cs typeface="Source Han Sans KR Bold"/>
                <a:sym typeface="Source Han Sans KR Bold"/>
              </a:rPr>
              <a:t>df.isNull</a:t>
            </a:r>
            <a:r>
              <a:rPr lang="en-US" sz="3600" b="1" dirty="0">
                <a:solidFill>
                  <a:srgbClr val="24242F"/>
                </a:solidFill>
                <a:latin typeface="Source Han Sans KR Bold"/>
                <a:ea typeface="Source Han Sans KR Bold"/>
                <a:cs typeface="Source Han Sans KR Bold"/>
                <a:sym typeface="Source Han Sans KR Bold"/>
              </a:rPr>
              <a:t>().sum()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20" name="TextBox 20">
            <a:extLst>
              <a:ext uri="{FF2B5EF4-FFF2-40B4-BE49-F238E27FC236}">
                <a16:creationId xmlns:a16="http://schemas.microsoft.com/office/drawing/2014/main" id="{74A1F0FF-1986-64C9-CFDF-74BB22F34F96}"/>
              </a:ext>
            </a:extLst>
          </p:cNvPr>
          <p:cNvSpPr txBox="1"/>
          <p:nvPr/>
        </p:nvSpPr>
        <p:spPr>
          <a:xfrm>
            <a:off x="698499" y="565150"/>
            <a:ext cx="8293101" cy="1403141"/>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Preprocessing</a:t>
            </a: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73949D8-CE2D-76E2-15E1-91EC69FE0E06}"/>
              </a:ext>
            </a:extLst>
          </p:cNvPr>
          <p:cNvSpPr/>
          <p:nvPr/>
        </p:nvSpPr>
        <p:spPr>
          <a:xfrm flipV="1">
            <a:off x="6477000" y="942975"/>
            <a:ext cx="11083924" cy="9525"/>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4" name="그림 3">
            <a:extLst>
              <a:ext uri="{FF2B5EF4-FFF2-40B4-BE49-F238E27FC236}">
                <a16:creationId xmlns:a16="http://schemas.microsoft.com/office/drawing/2014/main" id="{48DFCABC-09C7-1E02-BE40-EBB7E4689F4A}"/>
              </a:ext>
            </a:extLst>
          </p:cNvPr>
          <p:cNvPicPr>
            <a:picLocks noChangeAspect="1"/>
          </p:cNvPicPr>
          <p:nvPr/>
        </p:nvPicPr>
        <p:blipFill>
          <a:blip r:embed="rId2"/>
          <a:stretch>
            <a:fillRect/>
          </a:stretch>
        </p:blipFill>
        <p:spPr>
          <a:xfrm>
            <a:off x="9151776" y="1968291"/>
            <a:ext cx="6239097" cy="6668736"/>
          </a:xfrm>
          <a:prstGeom prst="rect">
            <a:avLst/>
          </a:prstGeom>
        </p:spPr>
      </p:pic>
      <p:sp>
        <p:nvSpPr>
          <p:cNvPr id="3" name="TextBox 2">
            <a:extLst>
              <a:ext uri="{FF2B5EF4-FFF2-40B4-BE49-F238E27FC236}">
                <a16:creationId xmlns:a16="http://schemas.microsoft.com/office/drawing/2014/main" id="{88A58456-B9B1-2F92-18E2-3CC9950E5931}"/>
              </a:ext>
            </a:extLst>
          </p:cNvPr>
          <p:cNvSpPr txBox="1"/>
          <p:nvPr/>
        </p:nvSpPr>
        <p:spPr>
          <a:xfrm>
            <a:off x="1447800" y="6591300"/>
            <a:ext cx="60960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-&gt; Dropa</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Tree>
    <p:extLst>
      <p:ext uri="{BB962C8B-B14F-4D97-AF65-F5344CB8AC3E}">
        <p14:creationId xmlns:p14="http://schemas.microsoft.com/office/powerpoint/2010/main" val="2201214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8EB89-C0D0-B75B-6EBE-DE44091DFF3F}"/>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40BB978-17ED-11D6-3BF1-ABDBB559959B}"/>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5DE0A7B6-79DB-E40F-C4A1-AFB8384722B6}"/>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pic>
        <p:nvPicPr>
          <p:cNvPr id="4" name="그림 3">
            <a:extLst>
              <a:ext uri="{FF2B5EF4-FFF2-40B4-BE49-F238E27FC236}">
                <a16:creationId xmlns:a16="http://schemas.microsoft.com/office/drawing/2014/main" id="{FCFEFE37-0026-9E92-E372-1D06B0663477}"/>
              </a:ext>
            </a:extLst>
          </p:cNvPr>
          <p:cNvPicPr>
            <a:picLocks noChangeAspect="1"/>
          </p:cNvPicPr>
          <p:nvPr/>
        </p:nvPicPr>
        <p:blipFill>
          <a:blip r:embed="rId2"/>
          <a:stretch>
            <a:fillRect/>
          </a:stretch>
        </p:blipFill>
        <p:spPr>
          <a:xfrm>
            <a:off x="8006543" y="1232710"/>
            <a:ext cx="10174315" cy="8809616"/>
          </a:xfrm>
          <a:prstGeom prst="rect">
            <a:avLst/>
          </a:prstGeom>
        </p:spPr>
      </p:pic>
      <p:sp>
        <p:nvSpPr>
          <p:cNvPr id="2" name="TextBox 2">
            <a:extLst>
              <a:ext uri="{FF2B5EF4-FFF2-40B4-BE49-F238E27FC236}">
                <a16:creationId xmlns:a16="http://schemas.microsoft.com/office/drawing/2014/main" id="{7D952847-AAD7-85B3-C30A-5AB3413D153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EDA</a:t>
            </a:r>
            <a:r>
              <a:rPr lang="en-US" altLang="ko-KR" sz="3600" b="1" u="none" strike="noStrike" dirty="0">
                <a:solidFill>
                  <a:srgbClr val="24242F"/>
                </a:solidFill>
                <a:latin typeface="Source Han Sans KR Bold"/>
                <a:ea typeface="Source Han Sans KR Bold"/>
                <a:cs typeface="Source Han Sans KR Bold"/>
                <a:sym typeface="Source Han Sans KR Bold"/>
              </a:rPr>
              <a: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5" name="직사각형 4">
            <a:extLst>
              <a:ext uri="{FF2B5EF4-FFF2-40B4-BE49-F238E27FC236}">
                <a16:creationId xmlns:a16="http://schemas.microsoft.com/office/drawing/2014/main" id="{CAF3B09E-B6D3-BF24-A99F-99764EEFB368}"/>
              </a:ext>
            </a:extLst>
          </p:cNvPr>
          <p:cNvSpPr/>
          <p:nvPr/>
        </p:nvSpPr>
        <p:spPr>
          <a:xfrm>
            <a:off x="9067798" y="4088490"/>
            <a:ext cx="556729"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99B2D4F8-7540-5C6F-B243-8036024D942E}"/>
              </a:ext>
            </a:extLst>
          </p:cNvPr>
          <p:cNvSpPr/>
          <p:nvPr/>
        </p:nvSpPr>
        <p:spPr>
          <a:xfrm rot="5400000">
            <a:off x="12636127" y="5193897"/>
            <a:ext cx="7111189"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4A558F7B-70A3-5530-E919-992BAE542B93}"/>
              </a:ext>
            </a:extLst>
          </p:cNvPr>
          <p:cNvSpPr/>
          <p:nvPr/>
        </p:nvSpPr>
        <p:spPr>
          <a:xfrm>
            <a:off x="9144000" y="8520890"/>
            <a:ext cx="7315200"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CE04A830-1F6A-0F2A-609F-B1FED548D918}"/>
              </a:ext>
            </a:extLst>
          </p:cNvPr>
          <p:cNvSpPr/>
          <p:nvPr/>
        </p:nvSpPr>
        <p:spPr>
          <a:xfrm>
            <a:off x="9624527" y="2976172"/>
            <a:ext cx="609602" cy="533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77803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AD1B6-C06F-E367-02A8-EDB0C2AFF34D}"/>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7DEE14FD-C849-FAD8-8F58-7F61BDF888C9}"/>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E28E397E-34B8-4190-BAD5-9C6F71B1667A}"/>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E23EF094-96D3-4BB8-F5EB-1277690AD3DF}"/>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EDA</a:t>
            </a:r>
            <a:r>
              <a:rPr lang="en-US" altLang="ko-KR" sz="3600" b="1" u="none" strike="noStrike" dirty="0">
                <a:solidFill>
                  <a:srgbClr val="24242F"/>
                </a:solidFill>
                <a:latin typeface="Source Han Sans KR Bold"/>
                <a:ea typeface="Source Han Sans KR Bold"/>
                <a:cs typeface="Source Han Sans KR Bold"/>
                <a:sym typeface="Source Han Sans KR Bold"/>
              </a:rPr>
              <a: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9" name="그림 8">
            <a:extLst>
              <a:ext uri="{FF2B5EF4-FFF2-40B4-BE49-F238E27FC236}">
                <a16:creationId xmlns:a16="http://schemas.microsoft.com/office/drawing/2014/main" id="{CFB9A7A7-02D6-0127-9708-58A3FBAA5BE8}"/>
              </a:ext>
            </a:extLst>
          </p:cNvPr>
          <p:cNvPicPr>
            <a:picLocks noChangeAspect="1"/>
          </p:cNvPicPr>
          <p:nvPr/>
        </p:nvPicPr>
        <p:blipFill>
          <a:blip r:embed="rId2"/>
          <a:stretch>
            <a:fillRect/>
          </a:stretch>
        </p:blipFill>
        <p:spPr>
          <a:xfrm>
            <a:off x="3400972" y="1985552"/>
            <a:ext cx="11627890" cy="7736298"/>
          </a:xfrm>
          <a:prstGeom prst="rect">
            <a:avLst/>
          </a:prstGeom>
        </p:spPr>
      </p:pic>
    </p:spTree>
    <p:extLst>
      <p:ext uri="{BB962C8B-B14F-4D97-AF65-F5344CB8AC3E}">
        <p14:creationId xmlns:p14="http://schemas.microsoft.com/office/powerpoint/2010/main" val="344506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13875-BA13-80A5-6E98-0D72D1F8B16D}"/>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BD2F5A1-4EFD-2946-C3B9-5C421C397858}"/>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F4CBCADF-061E-4598-C8E2-F5B0DA354B2F}"/>
              </a:ext>
            </a:extLst>
          </p:cNvPr>
          <p:cNvSpPr/>
          <p:nvPr/>
        </p:nvSpPr>
        <p:spPr>
          <a:xfrm flipV="1">
            <a:off x="9525000" y="942973"/>
            <a:ext cx="8035924" cy="54681"/>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6188BBB4-3F00-D476-302D-980A3D8CD86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ko-KR" altLang="en-US" sz="3600" b="1" u="none" strike="noStrike" dirty="0">
                <a:solidFill>
                  <a:srgbClr val="24242F"/>
                </a:solidFill>
                <a:latin typeface="Source Han Sans KR Bold"/>
                <a:ea typeface="Source Han Sans KR Bold"/>
                <a:cs typeface="Source Han Sans KR Bold"/>
                <a:sym typeface="Source Han Sans KR Bold"/>
              </a:rPr>
              <a:t>실험 결과</a:t>
            </a:r>
            <a:r>
              <a:rPr lang="en-US" altLang="ko-KR" sz="3600" b="1" u="none" strike="noStrike" dirty="0">
                <a:solidFill>
                  <a:srgbClr val="24242F"/>
                </a:solidFill>
                <a:latin typeface="Source Han Sans KR Bold"/>
                <a:ea typeface="Source Han Sans KR Bold"/>
                <a:cs typeface="Source Han Sans KR Bold"/>
                <a:sym typeface="Source Han Sans KR Bold"/>
              </a:rPr>
              <a: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graphicFrame>
        <p:nvGraphicFramePr>
          <p:cNvPr id="14" name="표 13">
            <a:extLst>
              <a:ext uri="{FF2B5EF4-FFF2-40B4-BE49-F238E27FC236}">
                <a16:creationId xmlns:a16="http://schemas.microsoft.com/office/drawing/2014/main" id="{8DC49888-B016-D2CA-0F93-B1C9415C113A}"/>
              </a:ext>
            </a:extLst>
          </p:cNvPr>
          <p:cNvGraphicFramePr>
            <a:graphicFrameLocks noGrp="1"/>
          </p:cNvGraphicFramePr>
          <p:nvPr>
            <p:extLst>
              <p:ext uri="{D42A27DB-BD31-4B8C-83A1-F6EECF244321}">
                <p14:modId xmlns:p14="http://schemas.microsoft.com/office/powerpoint/2010/main" val="2814827369"/>
              </p:ext>
            </p:extLst>
          </p:nvPr>
        </p:nvGraphicFramePr>
        <p:xfrm>
          <a:off x="7684858" y="2320924"/>
          <a:ext cx="9623883" cy="6968421"/>
        </p:xfrm>
        <a:graphic>
          <a:graphicData uri="http://schemas.openxmlformats.org/drawingml/2006/table">
            <a:tbl>
              <a:tblPr firstRow="1" bandRow="1">
                <a:tableStyleId>{2D5ABB26-0587-4C30-8999-92F81FD0307C}</a:tableStyleId>
              </a:tblPr>
              <a:tblGrid>
                <a:gridCol w="3207961">
                  <a:extLst>
                    <a:ext uri="{9D8B030D-6E8A-4147-A177-3AD203B41FA5}">
                      <a16:colId xmlns:a16="http://schemas.microsoft.com/office/drawing/2014/main" val="2981268273"/>
                    </a:ext>
                  </a:extLst>
                </a:gridCol>
                <a:gridCol w="3207961">
                  <a:extLst>
                    <a:ext uri="{9D8B030D-6E8A-4147-A177-3AD203B41FA5}">
                      <a16:colId xmlns:a16="http://schemas.microsoft.com/office/drawing/2014/main" val="923147460"/>
                    </a:ext>
                  </a:extLst>
                </a:gridCol>
                <a:gridCol w="3207961">
                  <a:extLst>
                    <a:ext uri="{9D8B030D-6E8A-4147-A177-3AD203B41FA5}">
                      <a16:colId xmlns:a16="http://schemas.microsoft.com/office/drawing/2014/main" val="935686064"/>
                    </a:ext>
                  </a:extLst>
                </a:gridCol>
              </a:tblGrid>
              <a:tr h="774269">
                <a:tc>
                  <a:txBody>
                    <a:bodyPr/>
                    <a:lstStyle/>
                    <a:p>
                      <a:pPr algn="ctr" latinLnBrk="1"/>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Train R2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Test R2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464502"/>
                  </a:ext>
                </a:extLst>
              </a:tr>
              <a:tr h="774269">
                <a:tc>
                  <a:txBody>
                    <a:bodyPr/>
                    <a:lstStyle/>
                    <a:p>
                      <a:pPr algn="ctr" latinLnBrk="1"/>
                      <a:r>
                        <a:rPr lang="en-US" altLang="ko-KR" dirty="0"/>
                        <a:t>Linear Regression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371600" rtl="0" eaLnBrk="1" fontAlgn="auto" latinLnBrk="1" hangingPunct="1">
                        <a:lnSpc>
                          <a:spcPct val="100000"/>
                        </a:lnSpc>
                        <a:spcBef>
                          <a:spcPts val="0"/>
                        </a:spcBef>
                        <a:spcAft>
                          <a:spcPts val="0"/>
                        </a:spcAft>
                        <a:buClrTx/>
                        <a:buSzTx/>
                        <a:buFontTx/>
                        <a:buNone/>
                        <a:tabLst/>
                        <a:defRPr/>
                      </a:pPr>
                      <a:r>
                        <a:rPr lang="en-US" altLang="ko-KR" dirty="0"/>
                        <a:t>0.1047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2693056"/>
                  </a:ext>
                </a:extLst>
              </a:tr>
              <a:tr h="774269">
                <a:tc>
                  <a:txBody>
                    <a:bodyPr/>
                    <a:lstStyle/>
                    <a:p>
                      <a:pPr algn="ctr" latinLnBrk="1"/>
                      <a:r>
                        <a:rPr lang="en-US" altLang="ko-KR" dirty="0"/>
                        <a:t>Polynomial</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0.2786</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0.2340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429019"/>
                  </a:ext>
                </a:extLst>
              </a:tr>
              <a:tr h="774269">
                <a:tc>
                  <a:txBody>
                    <a:bodyPr/>
                    <a:lstStyle/>
                    <a:p>
                      <a:pPr algn="ctr" latinLnBrk="1"/>
                      <a:r>
                        <a:rPr lang="en-US" altLang="ko-KR" dirty="0"/>
                        <a:t>Ridge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0.2298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578353"/>
                  </a:ext>
                </a:extLst>
              </a:tr>
              <a:tr h="774269">
                <a:tc>
                  <a:txBody>
                    <a:bodyPr/>
                    <a:lstStyle/>
                    <a:p>
                      <a:pPr algn="ctr" latinLnBrk="1"/>
                      <a:r>
                        <a:rPr lang="en-US" altLang="ko-KR" dirty="0"/>
                        <a:t>Lasso</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0.2322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231889"/>
                  </a:ext>
                </a:extLst>
              </a:tr>
              <a:tr h="774269">
                <a:tc>
                  <a:txBody>
                    <a:bodyPr/>
                    <a:lstStyle/>
                    <a:p>
                      <a:pPr algn="ctr" latinLnBrk="1"/>
                      <a:r>
                        <a:rPr lang="en-US" altLang="ko-KR" dirty="0" err="1"/>
                        <a:t>ElasticNet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0.2495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0.2334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520935"/>
                  </a:ext>
                </a:extLst>
              </a:tr>
              <a:tr h="774269">
                <a:tc>
                  <a:txBody>
                    <a:bodyPr/>
                    <a:lstStyle/>
                    <a:p>
                      <a:pPr algn="ctr" latinLnBrk="1"/>
                      <a:r>
                        <a:rPr lang="en-US" altLang="ko-KR" dirty="0"/>
                        <a:t>Decision Tree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0.6397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0.4697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082337"/>
                  </a:ext>
                </a:extLst>
              </a:tr>
              <a:tr h="774269">
                <a:tc>
                  <a:txBody>
                    <a:bodyPr/>
                    <a:lstStyle/>
                    <a:p>
                      <a:pPr algn="ctr" latinLnBrk="1"/>
                      <a:r>
                        <a:rPr lang="en-US" altLang="ko-KR" dirty="0"/>
                        <a:t>Random Forest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0.8211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0.5848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347770"/>
                  </a:ext>
                </a:extLst>
              </a:tr>
              <a:tr h="774269">
                <a:tc>
                  <a:txBody>
                    <a:bodyPr/>
                    <a:lstStyle/>
                    <a:p>
                      <a:pPr algn="ctr" latinLnBrk="1"/>
                      <a:r>
                        <a:rPr lang="en-US" altLang="ko-KR" dirty="0"/>
                        <a:t>KNN(K=8)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1.0000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0.5219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2211695"/>
                  </a:ext>
                </a:extLst>
              </a:tr>
            </a:tbl>
          </a:graphicData>
        </a:graphic>
      </p:graphicFrame>
      <p:sp>
        <p:nvSpPr>
          <p:cNvPr id="15" name="TextBox 21">
            <a:extLst>
              <a:ext uri="{FF2B5EF4-FFF2-40B4-BE49-F238E27FC236}">
                <a16:creationId xmlns:a16="http://schemas.microsoft.com/office/drawing/2014/main" id="{BBDF49F4-754E-2835-CB98-843F81AE0154}"/>
              </a:ext>
            </a:extLst>
          </p:cNvPr>
          <p:cNvSpPr txBox="1"/>
          <p:nvPr/>
        </p:nvSpPr>
        <p:spPr>
          <a:xfrm>
            <a:off x="1447800" y="2686436"/>
            <a:ext cx="5334000" cy="4927311"/>
          </a:xfrm>
          <a:prstGeom prst="rect">
            <a:avLst/>
          </a:prstGeom>
        </p:spPr>
        <p:txBody>
          <a:bodyPr wrap="square" lIns="0" tIns="0" rIns="0" bIns="0" rtlCol="0" anchor="t">
            <a:spAutoFit/>
          </a:bodyPr>
          <a:lstStyle/>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Linear</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Regression,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Decision Tree,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Random Forest,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KNN, </a:t>
            </a: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827414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C53A1-8B8C-3CE6-AC6A-46C3C255E23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974FB47-0455-7B3A-B3D1-A71C700F539A}"/>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BD537FA7-75CE-51E4-ED05-BBE1A9BC60C3}"/>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4C90D23E-4EAE-31AD-26D7-6B9DF1261B1D}"/>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880A2B6B-7C82-F6C5-DB42-C306AFB634F3}"/>
              </a:ext>
            </a:extLst>
          </p:cNvPr>
          <p:cNvSpPr txBox="1"/>
          <p:nvPr/>
        </p:nvSpPr>
        <p:spPr>
          <a:xfrm>
            <a:off x="1447800" y="2686436"/>
            <a:ext cx="16002000" cy="4373313"/>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Although high predictive performance was difficult to achieve in this regression task, the model was able to explain approximately 58% of the variance in Tool Current using only speed-related features.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This suggests that the model learned patterns linking specific robot arm motions and operating speeds to corresponding gripper activities.</a:t>
            </a: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932E6B29-8F56-D514-F9B2-2635C7D3C890}"/>
              </a:ext>
            </a:extLst>
          </p:cNvPr>
          <p:cNvPicPr>
            <a:picLocks noChangeAspect="1"/>
          </p:cNvPicPr>
          <p:nvPr/>
        </p:nvPicPr>
        <p:blipFill>
          <a:blip r:embed="rId3"/>
          <a:stretch>
            <a:fillRect/>
          </a:stretch>
        </p:blipFill>
        <p:spPr>
          <a:xfrm>
            <a:off x="9397954" y="6057900"/>
            <a:ext cx="7442246" cy="4060301"/>
          </a:xfrm>
          <a:prstGeom prst="rect">
            <a:avLst/>
          </a:prstGeom>
        </p:spPr>
      </p:pic>
    </p:spTree>
    <p:extLst>
      <p:ext uri="{BB962C8B-B14F-4D97-AF65-F5344CB8AC3E}">
        <p14:creationId xmlns:p14="http://schemas.microsoft.com/office/powerpoint/2010/main" val="231471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D084A-80D3-684B-55A9-4728C7D2CBEF}"/>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F907A9C-9826-6464-05B1-7BDE53483267}"/>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459CCB8-0ECA-686F-CDD1-C0074D36CA30}"/>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EB7388B4-2AA9-4246-1EB9-4543439066A5}"/>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70088377-6D9A-A125-0673-099DBA00F724}"/>
              </a:ext>
            </a:extLst>
          </p:cNvPr>
          <p:cNvSpPr txBox="1"/>
          <p:nvPr/>
        </p:nvSpPr>
        <p:spPr>
          <a:xfrm>
            <a:off x="1447800" y="2686436"/>
            <a:ext cx="16002000" cy="3265317"/>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 scatter plot below illustrates the overall distribution of Tool Current values.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Since regression models attempt to minimize prediction error by estimating intermediate values, prediction inaccuracies occur because the actual Tool Current is concentrated in several discrete operating states rather than continuously distributed.</a:t>
            </a: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C6F7C935-EA57-F610-CC58-400D45853AE0}"/>
              </a:ext>
            </a:extLst>
          </p:cNvPr>
          <p:cNvPicPr>
            <a:picLocks noChangeAspect="1"/>
          </p:cNvPicPr>
          <p:nvPr/>
        </p:nvPicPr>
        <p:blipFill>
          <a:blip r:embed="rId3"/>
          <a:stretch>
            <a:fillRect/>
          </a:stretch>
        </p:blipFill>
        <p:spPr>
          <a:xfrm>
            <a:off x="4876800" y="4991100"/>
            <a:ext cx="9144677" cy="4989104"/>
          </a:xfrm>
          <a:prstGeom prst="rect">
            <a:avLst/>
          </a:prstGeom>
        </p:spPr>
      </p:pic>
    </p:spTree>
    <p:extLst>
      <p:ext uri="{BB962C8B-B14F-4D97-AF65-F5344CB8AC3E}">
        <p14:creationId xmlns:p14="http://schemas.microsoft.com/office/powerpoint/2010/main" val="4002180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D7FA8-E771-BC0C-B977-AEE76ABEF389}"/>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3C408C9B-C1CD-256A-9EF0-6B29E7CAC3F6}"/>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Regression – </a:t>
            </a:r>
            <a:r>
              <a:rPr lang="en-US" altLang="ko-KR" sz="2800" b="1" dirty="0">
                <a:solidFill>
                  <a:srgbClr val="0F71FC"/>
                </a:solidFill>
                <a:latin typeface="Source Han Sans KR Bold"/>
                <a:ea typeface="Source Han Sans KR Bold"/>
                <a:cs typeface="Source Han Sans KR Bold"/>
                <a:sym typeface="Source Han Sans KR Bold"/>
              </a:rPr>
              <a:t>Tool Current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247638D9-6794-A12A-547E-259A5A7C1702}"/>
              </a:ext>
            </a:extLst>
          </p:cNvPr>
          <p:cNvSpPr/>
          <p:nvPr/>
        </p:nvSpPr>
        <p:spPr>
          <a:xfrm>
            <a:off x="12496800" y="916396"/>
            <a:ext cx="5064124" cy="26578"/>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B9408BDF-C317-601C-FCFF-6A70FADCD89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C49DED5C-0544-7FEC-F8B1-4F3E72EE1D3B}"/>
              </a:ext>
            </a:extLst>
          </p:cNvPr>
          <p:cNvSpPr txBox="1"/>
          <p:nvPr/>
        </p:nvSpPr>
        <p:spPr>
          <a:xfrm>
            <a:off x="1447800" y="2933700"/>
            <a:ext cx="16002000" cy="4927311"/>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It was confirmed that there was a clear association between joint data and tool current. However, it was concluded that it was much more useful to approach the classification problem of matching the gripper's current operating state rather than the regression of successive numbers.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As a result of learning with the classification models Logistic Regression and Random Forest on the same subject, the F1-score recorded 0.2 and 0.57, respectively</a:t>
            </a:r>
          </a:p>
          <a:p>
            <a:pPr marL="342900" lvl="0" indent="-342900" algn="l">
              <a:lnSpc>
                <a:spcPct val="150000"/>
              </a:lnSpc>
              <a:spcBef>
                <a:spcPct val="0"/>
              </a:spcBef>
              <a:buFontTx/>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3B50F7BC-C2DC-C4BD-A38E-8491DAA6E12D}"/>
              </a:ext>
            </a:extLst>
          </p:cNvPr>
          <p:cNvPicPr>
            <a:picLocks noChangeAspect="1"/>
          </p:cNvPicPr>
          <p:nvPr/>
        </p:nvPicPr>
        <p:blipFill>
          <a:blip r:embed="rId2"/>
          <a:stretch>
            <a:fillRect/>
          </a:stretch>
        </p:blipFill>
        <p:spPr>
          <a:xfrm>
            <a:off x="4953000" y="5763750"/>
            <a:ext cx="7086600" cy="4156563"/>
          </a:xfrm>
          <a:prstGeom prst="rect">
            <a:avLst/>
          </a:prstGeom>
        </p:spPr>
      </p:pic>
    </p:spTree>
    <p:extLst>
      <p:ext uri="{BB962C8B-B14F-4D97-AF65-F5344CB8AC3E}">
        <p14:creationId xmlns:p14="http://schemas.microsoft.com/office/powerpoint/2010/main" val="2235706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A9A7A-B358-8AA4-4821-CB6E4EE0FF56}"/>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14FE437-7996-7D17-D90A-73D77B16261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BD5ED775-7862-2AE5-7F4C-F350E15CE08B}"/>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217A4032-076A-4661-A310-023EB00EF6F9}"/>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sp>
        <p:nvSpPr>
          <p:cNvPr id="15" name="TextBox 21">
            <a:extLst>
              <a:ext uri="{FF2B5EF4-FFF2-40B4-BE49-F238E27FC236}">
                <a16:creationId xmlns:a16="http://schemas.microsoft.com/office/drawing/2014/main" id="{86E7E184-AE2D-AE7B-6F35-AA5CF5EB1927}"/>
              </a:ext>
            </a:extLst>
          </p:cNvPr>
          <p:cNvSpPr txBox="1"/>
          <p:nvPr/>
        </p:nvSpPr>
        <p:spPr>
          <a:xfrm>
            <a:off x="1447800" y="2933700"/>
            <a:ext cx="8458200" cy="3265317"/>
          </a:xfrm>
          <a:prstGeom prst="rect">
            <a:avLst/>
          </a:prstGeom>
        </p:spPr>
        <p:txBody>
          <a:bodyPr wrap="square" lIns="0" tIns="0" rIns="0" bIns="0" rtlCol="0" anchor="t">
            <a:spAutoFit/>
          </a:bodyPr>
          <a:lstStyle/>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Make System Failure Label </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System Failure = Protective Stop = 1 or grip lost = 1</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Normal 93%, Abnormal</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7%</a:t>
            </a:r>
          </a:p>
          <a:p>
            <a:pPr marL="342900" lvl="0" indent="-342900" algn="l">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Need SMOTE</a:t>
            </a:r>
          </a:p>
          <a:p>
            <a:pPr marL="342900" lvl="0" indent="-342900" algn="l">
              <a:lnSpc>
                <a:spcPct val="150000"/>
              </a:lnSpc>
              <a:spcBef>
                <a:spcPct val="0"/>
              </a:spcBef>
              <a:buFont typeface="Arial" panose="020B0604020202020204" pitchFamily="34" charset="0"/>
              <a:buChar char="•"/>
            </a:pPr>
            <a:endParaRPr lang="en-US" altLang="ko-KR" sz="2400" dirty="0">
              <a:solidFill>
                <a:srgbClr val="24242F"/>
              </a:solidFill>
              <a:latin typeface="Source Han Sans KR"/>
              <a:ea typeface="Source Han Sans KR"/>
              <a:cs typeface="Source Han Sans KR"/>
              <a:sym typeface="Source Han Sans KR"/>
            </a:endParaRPr>
          </a:p>
          <a:p>
            <a:pPr lvl="0" algn="l">
              <a:lnSpc>
                <a:spcPct val="150000"/>
              </a:lnSpc>
              <a:spcBef>
                <a:spcPct val="0"/>
              </a:spcBef>
            </a:pPr>
            <a:r>
              <a:rPr lang="ko-KR" altLang="en-US" sz="2400" dirty="0">
                <a:solidFill>
                  <a:srgbClr val="24242F"/>
                </a:solidFill>
                <a:latin typeface="Source Han Sans KR"/>
                <a:ea typeface="Source Han Sans KR"/>
                <a:cs typeface="Source Han Sans KR"/>
                <a:sym typeface="Source Han Sans KR"/>
              </a:rPr>
              <a:t>  </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B5A0CCC9-F441-FA09-CD25-E0D0C64980F7}"/>
              </a:ext>
            </a:extLst>
          </p:cNvPr>
          <p:cNvPicPr>
            <a:picLocks noChangeAspect="1"/>
          </p:cNvPicPr>
          <p:nvPr/>
        </p:nvPicPr>
        <p:blipFill>
          <a:blip r:embed="rId2"/>
          <a:stretch>
            <a:fillRect/>
          </a:stretch>
        </p:blipFill>
        <p:spPr>
          <a:xfrm>
            <a:off x="9448800" y="2212404"/>
            <a:ext cx="8579582" cy="6724946"/>
          </a:xfrm>
          <a:prstGeom prst="rect">
            <a:avLst/>
          </a:prstGeom>
        </p:spPr>
      </p:pic>
    </p:spTree>
    <p:extLst>
      <p:ext uri="{BB962C8B-B14F-4D97-AF65-F5344CB8AC3E}">
        <p14:creationId xmlns:p14="http://schemas.microsoft.com/office/powerpoint/2010/main" val="515784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D6B7-3F29-1629-8156-B91CD42A766C}"/>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EE74D06D-686E-4479-AB4C-4AF231B90976}"/>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E44F98E1-511E-66E8-E332-0D3F55E2D322}"/>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854023FE-2C26-0A4E-8F60-56402BCBA8A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4" name="그림 3">
            <a:extLst>
              <a:ext uri="{FF2B5EF4-FFF2-40B4-BE49-F238E27FC236}">
                <a16:creationId xmlns:a16="http://schemas.microsoft.com/office/drawing/2014/main" id="{23A27146-81EF-F00F-F076-47B77DFF391E}"/>
              </a:ext>
            </a:extLst>
          </p:cNvPr>
          <p:cNvPicPr>
            <a:picLocks noChangeAspect="1"/>
          </p:cNvPicPr>
          <p:nvPr/>
        </p:nvPicPr>
        <p:blipFill>
          <a:blip r:embed="rId2"/>
          <a:stretch>
            <a:fillRect/>
          </a:stretch>
        </p:blipFill>
        <p:spPr>
          <a:xfrm>
            <a:off x="2667001" y="1625794"/>
            <a:ext cx="7467600" cy="4132434"/>
          </a:xfrm>
          <a:prstGeom prst="rect">
            <a:avLst/>
          </a:prstGeom>
        </p:spPr>
      </p:pic>
      <p:pic>
        <p:nvPicPr>
          <p:cNvPr id="9" name="그림 8">
            <a:extLst>
              <a:ext uri="{FF2B5EF4-FFF2-40B4-BE49-F238E27FC236}">
                <a16:creationId xmlns:a16="http://schemas.microsoft.com/office/drawing/2014/main" id="{0409BA0A-74C5-1343-CEFA-2250D20CCDE8}"/>
              </a:ext>
            </a:extLst>
          </p:cNvPr>
          <p:cNvPicPr>
            <a:picLocks noChangeAspect="1"/>
          </p:cNvPicPr>
          <p:nvPr/>
        </p:nvPicPr>
        <p:blipFill>
          <a:blip r:embed="rId3"/>
          <a:stretch>
            <a:fillRect/>
          </a:stretch>
        </p:blipFill>
        <p:spPr>
          <a:xfrm>
            <a:off x="10144837" y="1632048"/>
            <a:ext cx="7839075" cy="4335578"/>
          </a:xfrm>
          <a:prstGeom prst="rect">
            <a:avLst/>
          </a:prstGeom>
        </p:spPr>
      </p:pic>
      <p:pic>
        <p:nvPicPr>
          <p:cNvPr id="11" name="그림 10">
            <a:extLst>
              <a:ext uri="{FF2B5EF4-FFF2-40B4-BE49-F238E27FC236}">
                <a16:creationId xmlns:a16="http://schemas.microsoft.com/office/drawing/2014/main" id="{0CDD3130-1695-F5B0-E325-2B58E3E1DC80}"/>
              </a:ext>
            </a:extLst>
          </p:cNvPr>
          <p:cNvPicPr>
            <a:picLocks noChangeAspect="1"/>
          </p:cNvPicPr>
          <p:nvPr/>
        </p:nvPicPr>
        <p:blipFill>
          <a:blip r:embed="rId4"/>
          <a:stretch>
            <a:fillRect/>
          </a:stretch>
        </p:blipFill>
        <p:spPr>
          <a:xfrm>
            <a:off x="2667001" y="5758228"/>
            <a:ext cx="7315199" cy="4045836"/>
          </a:xfrm>
          <a:prstGeom prst="rect">
            <a:avLst/>
          </a:prstGeom>
        </p:spPr>
      </p:pic>
    </p:spTree>
    <p:extLst>
      <p:ext uri="{BB962C8B-B14F-4D97-AF65-F5344CB8AC3E}">
        <p14:creationId xmlns:p14="http://schemas.microsoft.com/office/powerpoint/2010/main" val="234863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0C61-2809-1419-15C6-8828EEF1C3D3}"/>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BA0D520-668F-D7FE-A316-16DEDE69AF0A}"/>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270EBE2F-62A8-F46E-7D12-62F543A5E856}"/>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1F7DB10A-661D-EB63-79FA-E85BC6D3DB7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ko-KR" altLang="en-US" sz="3600" b="1" u="none" strike="noStrike" dirty="0">
                <a:solidFill>
                  <a:srgbClr val="24242F"/>
                </a:solidFill>
                <a:latin typeface="Source Han Sans KR Bold"/>
                <a:ea typeface="Source Han Sans KR Bold"/>
                <a:cs typeface="Source Han Sans KR Bold"/>
                <a:sym typeface="Source Han Sans KR Bold"/>
              </a:rPr>
              <a:t>실험 결과</a:t>
            </a:r>
            <a:r>
              <a:rPr lang="en-US" altLang="ko-KR" sz="3600" b="1" dirty="0">
                <a:solidFill>
                  <a:srgbClr val="24242F"/>
                </a:solidFill>
                <a:latin typeface="Source Han Sans KR Bold"/>
                <a:ea typeface="Source Han Sans KR Bold"/>
                <a:cs typeface="Source Han Sans KR Bold"/>
                <a:sym typeface="Source Han Sans KR Bold"/>
              </a:rPr>
              <a:t> </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graphicFrame>
        <p:nvGraphicFramePr>
          <p:cNvPr id="3" name="표 2">
            <a:extLst>
              <a:ext uri="{FF2B5EF4-FFF2-40B4-BE49-F238E27FC236}">
                <a16:creationId xmlns:a16="http://schemas.microsoft.com/office/drawing/2014/main" id="{FC10BD1D-F32B-6C21-BCFB-ADB3557A8A1D}"/>
              </a:ext>
            </a:extLst>
          </p:cNvPr>
          <p:cNvGraphicFramePr>
            <a:graphicFrameLocks noGrp="1"/>
          </p:cNvGraphicFramePr>
          <p:nvPr>
            <p:extLst>
              <p:ext uri="{D42A27DB-BD31-4B8C-83A1-F6EECF244321}">
                <p14:modId xmlns:p14="http://schemas.microsoft.com/office/powerpoint/2010/main" val="4213355262"/>
              </p:ext>
            </p:extLst>
          </p:nvPr>
        </p:nvGraphicFramePr>
        <p:xfrm>
          <a:off x="3962400" y="2933700"/>
          <a:ext cx="9690032" cy="5235020"/>
        </p:xfrm>
        <a:graphic>
          <a:graphicData uri="http://schemas.openxmlformats.org/drawingml/2006/table">
            <a:tbl>
              <a:tblPr firstRow="1" bandRow="1">
                <a:tableStyleId>{2D5ABB26-0587-4C30-8999-92F81FD0307C}</a:tableStyleId>
              </a:tblPr>
              <a:tblGrid>
                <a:gridCol w="2422508">
                  <a:extLst>
                    <a:ext uri="{9D8B030D-6E8A-4147-A177-3AD203B41FA5}">
                      <a16:colId xmlns:a16="http://schemas.microsoft.com/office/drawing/2014/main" val="367194609"/>
                    </a:ext>
                  </a:extLst>
                </a:gridCol>
                <a:gridCol w="2422508">
                  <a:extLst>
                    <a:ext uri="{9D8B030D-6E8A-4147-A177-3AD203B41FA5}">
                      <a16:colId xmlns:a16="http://schemas.microsoft.com/office/drawing/2014/main" val="2583420687"/>
                    </a:ext>
                  </a:extLst>
                </a:gridCol>
                <a:gridCol w="2422508">
                  <a:extLst>
                    <a:ext uri="{9D8B030D-6E8A-4147-A177-3AD203B41FA5}">
                      <a16:colId xmlns:a16="http://schemas.microsoft.com/office/drawing/2014/main" val="304338176"/>
                    </a:ext>
                  </a:extLst>
                </a:gridCol>
                <a:gridCol w="2422508">
                  <a:extLst>
                    <a:ext uri="{9D8B030D-6E8A-4147-A177-3AD203B41FA5}">
                      <a16:colId xmlns:a16="http://schemas.microsoft.com/office/drawing/2014/main" val="1187563584"/>
                    </a:ext>
                  </a:extLst>
                </a:gridCol>
              </a:tblGrid>
              <a:tr h="851555">
                <a:tc>
                  <a:txBody>
                    <a:bodyPr/>
                    <a:lstStyle/>
                    <a:p>
                      <a:pPr algn="ctr" latinLnBrk="1"/>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F1-score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Recall</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Precision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266777"/>
                  </a:ext>
                </a:extLst>
              </a:tr>
              <a:tr h="851555">
                <a:tc>
                  <a:txBody>
                    <a:bodyPr/>
                    <a:lstStyle/>
                    <a:p>
                      <a:pPr algn="ctr" latinLnBrk="1"/>
                      <a:r>
                        <a:rPr lang="en-US" altLang="ko-KR" dirty="0"/>
                        <a:t>Logistic Regression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0.24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0.75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0.14</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439353"/>
                  </a:ext>
                </a:extLst>
              </a:tr>
              <a:tr h="851555">
                <a:tc>
                  <a:txBody>
                    <a:bodyPr/>
                    <a:lstStyle/>
                    <a:p>
                      <a:pPr algn="ctr" latinLnBrk="1"/>
                      <a:r>
                        <a:rPr lang="en-US" altLang="ko-KR" dirty="0"/>
                        <a:t>SVM</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0.75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0.39</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119439"/>
                  </a:ext>
                </a:extLst>
              </a:tr>
              <a:tr h="851555">
                <a:tc>
                  <a:txBody>
                    <a:bodyPr/>
                    <a:lstStyle/>
                    <a:p>
                      <a:pPr algn="ctr" latinLnBrk="1"/>
                      <a:r>
                        <a:rPr lang="en-US" altLang="ko-KR" dirty="0"/>
                        <a:t>Decision Tree</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0.47</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0.62</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0.38</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296201"/>
                  </a:ext>
                </a:extLst>
              </a:tr>
              <a:tr h="851555">
                <a:tc>
                  <a:txBody>
                    <a:bodyPr/>
                    <a:lstStyle/>
                    <a:p>
                      <a:pPr algn="ctr" latinLnBrk="1"/>
                      <a:r>
                        <a:rPr lang="en-US" altLang="ko-KR" dirty="0"/>
                        <a:t>Random Forest</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0.63</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0.65</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0.61</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276831"/>
                  </a:ext>
                </a:extLst>
              </a:tr>
              <a:tr h="851555">
                <a:tc>
                  <a:txBody>
                    <a:bodyPr/>
                    <a:lstStyle/>
                    <a:p>
                      <a:pPr algn="ctr" latinLnBrk="1"/>
                      <a:r>
                        <a:rPr lang="en-US" altLang="ko-KR" dirty="0"/>
                        <a:t>KNN</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0.50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0.66</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dirty="0"/>
                        <a:t>0.40</a:t>
                      </a:r>
                      <a:endParaRPr lang="ko-KR"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955978"/>
                  </a:ext>
                </a:extLst>
              </a:tr>
            </a:tbl>
          </a:graphicData>
        </a:graphic>
      </p:graphicFrame>
    </p:spTree>
    <p:extLst>
      <p:ext uri="{BB962C8B-B14F-4D97-AF65-F5344CB8AC3E}">
        <p14:creationId xmlns:p14="http://schemas.microsoft.com/office/powerpoint/2010/main" val="2939710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5490E-D35D-B26C-07B1-395D95176D73}"/>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5D05038-B8CE-362A-B140-A63CC6FC5994}"/>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3B4488A7-F82D-6F92-0EEA-73A2E47A237A}"/>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9A13C7E5-AA8C-EDF0-7ABA-2DC9DA6E27EA}"/>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r>
              <a:rPr lang="en-US" altLang="ko-KR" sz="3600" b="1" dirty="0">
                <a:solidFill>
                  <a:srgbClr val="24242F"/>
                </a:solidFill>
                <a:latin typeface="Source Han Sans KR Bold"/>
                <a:ea typeface="Source Han Sans KR Bold"/>
                <a:cs typeface="Source Han Sans KR Bold"/>
                <a:sym typeface="Source Han Sans KR Bold"/>
              </a:rPr>
              <a:t>– Logistic Regression</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0BFEBC4C-6B26-CD31-A6EA-12146BF9BF51}"/>
              </a:ext>
            </a:extLst>
          </p:cNvPr>
          <p:cNvSpPr txBox="1"/>
          <p:nvPr/>
        </p:nvSpPr>
        <p:spPr>
          <a:xfrm>
            <a:off x="1447800" y="2933700"/>
            <a:ext cx="7262255" cy="4373313"/>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Blue dot: normal, red dot: failure</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Left: SMOTE, right: SMOTE + </a:t>
            </a:r>
            <a:r>
              <a:rPr lang="en-US" altLang="ko-KR" sz="2400" dirty="0" err="1">
                <a:solidFill>
                  <a:srgbClr val="24242F"/>
                </a:solidFill>
                <a:latin typeface="Source Han Sans KR"/>
                <a:ea typeface="Source Han Sans KR"/>
                <a:cs typeface="Source Han Sans KR"/>
                <a:sym typeface="Source Han Sans KR"/>
              </a:rPr>
              <a:t>undersampling</a:t>
            </a:r>
            <a:endParaRPr lang="en-US" altLang="ko-KR" sz="2400" dirty="0">
              <a:solidFill>
                <a:srgbClr val="24242F"/>
              </a:solidFill>
              <a:latin typeface="Source Han Sans KR"/>
              <a:ea typeface="Source Han Sans KR"/>
              <a:cs typeface="Source Han Sans KR"/>
              <a:sym typeface="Source Han Sans KR"/>
            </a:endParaRP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Failure samples are deeply mixed with normal samples in both cases</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The dataset exhibits a non-linearly separable structure </a:t>
            </a:r>
          </a:p>
          <a:p>
            <a:pPr marL="342900" lvl="0" indent="-342900">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Linear classification is therefore inherently limited</a:t>
            </a:r>
          </a:p>
        </p:txBody>
      </p:sp>
      <p:pic>
        <p:nvPicPr>
          <p:cNvPr id="7" name="그림 6">
            <a:extLst>
              <a:ext uri="{FF2B5EF4-FFF2-40B4-BE49-F238E27FC236}">
                <a16:creationId xmlns:a16="http://schemas.microsoft.com/office/drawing/2014/main" id="{A3C2D5AF-2421-9628-21D0-7F553FAB96EC}"/>
              </a:ext>
            </a:extLst>
          </p:cNvPr>
          <p:cNvPicPr>
            <a:picLocks noChangeAspect="1"/>
          </p:cNvPicPr>
          <p:nvPr/>
        </p:nvPicPr>
        <p:blipFill>
          <a:blip r:embed="rId2"/>
          <a:stretch>
            <a:fillRect/>
          </a:stretch>
        </p:blipFill>
        <p:spPr>
          <a:xfrm>
            <a:off x="8305801" y="1890426"/>
            <a:ext cx="9982200" cy="6624191"/>
          </a:xfrm>
          <a:prstGeom prst="rect">
            <a:avLst/>
          </a:prstGeom>
        </p:spPr>
      </p:pic>
    </p:spTree>
    <p:extLst>
      <p:ext uri="{BB962C8B-B14F-4D97-AF65-F5344CB8AC3E}">
        <p14:creationId xmlns:p14="http://schemas.microsoft.com/office/powerpoint/2010/main" val="3561970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832AD-2770-8D9D-B766-0B180F327C6D}"/>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9CAFA05-D25E-EF05-79F4-3E67A79998C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C8C0F148-29A0-EB57-8AF3-CE06C2A77EE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E496B6D-CA66-8620-B81F-004D929CC18B}"/>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Logistic Regression</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5ED30825-34A6-5DAC-A829-28422230340B}"/>
              </a:ext>
            </a:extLst>
          </p:cNvPr>
          <p:cNvSpPr txBox="1"/>
          <p:nvPr/>
        </p:nvSpPr>
        <p:spPr>
          <a:xfrm>
            <a:off x="1485900" y="2810333"/>
            <a:ext cx="7378833" cy="495328"/>
          </a:xfrm>
          <a:prstGeom prst="rect">
            <a:avLst/>
          </a:prstGeom>
        </p:spPr>
        <p:txBody>
          <a:bodyPr wrap="square" lIns="0" tIns="0" rIns="0" bIns="0" rtlCol="0" anchor="t">
            <a:spAutoFit/>
          </a:bodyPr>
          <a:lstStyle/>
          <a:p>
            <a:pPr marL="342900" lvl="0" indent="-342900" algn="l">
              <a:lnSpc>
                <a:spcPct val="150000"/>
              </a:lnSpc>
              <a:spcBef>
                <a:spcPct val="0"/>
              </a:spcBef>
              <a:buFont typeface="Arial" panose="020B0604020202020204" pitchFamily="34" charset="0"/>
              <a:buChar char="•"/>
            </a:pPr>
            <a:r>
              <a:rPr lang="en-US" altLang="ko-KR" sz="2400" dirty="0">
                <a:solidFill>
                  <a:srgbClr val="24242F"/>
                </a:solidFill>
                <a:latin typeface="Source Han Sans KR"/>
                <a:ea typeface="Source Han Sans KR"/>
                <a:cs typeface="Source Han Sans KR"/>
                <a:sym typeface="Source Han Sans KR"/>
              </a:rPr>
              <a:t>TN :  887 	FP : 480 	FN : 26 	TP</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78</a:t>
            </a:r>
          </a:p>
        </p:txBody>
      </p:sp>
      <p:pic>
        <p:nvPicPr>
          <p:cNvPr id="5" name="그림 4">
            <a:extLst>
              <a:ext uri="{FF2B5EF4-FFF2-40B4-BE49-F238E27FC236}">
                <a16:creationId xmlns:a16="http://schemas.microsoft.com/office/drawing/2014/main" id="{9ED97039-DFDA-87B2-BF0D-1391DE31F03F}"/>
              </a:ext>
            </a:extLst>
          </p:cNvPr>
          <p:cNvPicPr>
            <a:picLocks noChangeAspect="1"/>
          </p:cNvPicPr>
          <p:nvPr/>
        </p:nvPicPr>
        <p:blipFill>
          <a:blip r:embed="rId2"/>
          <a:stretch>
            <a:fillRect/>
          </a:stretch>
        </p:blipFill>
        <p:spPr>
          <a:xfrm>
            <a:off x="1471115" y="3724276"/>
            <a:ext cx="15144750" cy="5619750"/>
          </a:xfrm>
          <a:prstGeom prst="rect">
            <a:avLst/>
          </a:prstGeom>
        </p:spPr>
      </p:pic>
    </p:spTree>
    <p:extLst>
      <p:ext uri="{BB962C8B-B14F-4D97-AF65-F5344CB8AC3E}">
        <p14:creationId xmlns:p14="http://schemas.microsoft.com/office/powerpoint/2010/main" val="2554455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D6680-1F40-2BBE-CDE3-86CA848A96C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5E2C3B9B-A6E8-62CD-2C37-D499B0EBEDE9}"/>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53E66C8-6E0A-0FBF-8DFD-390E71C33883}"/>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F475405F-CC2B-15DB-7448-F8B0DE5BD341}"/>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SVM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5" name="그림 4">
            <a:extLst>
              <a:ext uri="{FF2B5EF4-FFF2-40B4-BE49-F238E27FC236}">
                <a16:creationId xmlns:a16="http://schemas.microsoft.com/office/drawing/2014/main" id="{0300BE65-36BB-DD21-F646-BB306C8E1088}"/>
              </a:ext>
            </a:extLst>
          </p:cNvPr>
          <p:cNvPicPr>
            <a:picLocks noChangeAspect="1"/>
          </p:cNvPicPr>
          <p:nvPr/>
        </p:nvPicPr>
        <p:blipFill>
          <a:blip r:embed="rId2"/>
          <a:stretch>
            <a:fillRect/>
          </a:stretch>
        </p:blipFill>
        <p:spPr>
          <a:xfrm>
            <a:off x="4390979" y="2330450"/>
            <a:ext cx="8686800" cy="6930759"/>
          </a:xfrm>
          <a:prstGeom prst="rect">
            <a:avLst/>
          </a:prstGeom>
        </p:spPr>
      </p:pic>
    </p:spTree>
    <p:extLst>
      <p:ext uri="{BB962C8B-B14F-4D97-AF65-F5344CB8AC3E}">
        <p14:creationId xmlns:p14="http://schemas.microsoft.com/office/powerpoint/2010/main" val="254338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9AF2-2E4C-3C06-8007-9E046A45AA92}"/>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4F741E06-1CA5-193B-EFFA-D521C323DCCA}"/>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5F9382E-523E-3075-D86A-34050A646E93}"/>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21D1552-16D3-844B-A409-D2F2C1F0314C}"/>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ko-KR" altLang="en-US" sz="3600" b="1" u="none" strike="noStrike" dirty="0">
                <a:solidFill>
                  <a:srgbClr val="24242F"/>
                </a:solidFill>
                <a:latin typeface="Source Han Sans KR Bold"/>
                <a:ea typeface="Source Han Sans KR Bold"/>
                <a:cs typeface="Source Han Sans KR Bold"/>
                <a:sym typeface="Source Han Sans KR Bold"/>
              </a:rPr>
              <a:t>실험 결과</a:t>
            </a:r>
            <a:r>
              <a:rPr lang="en-US" altLang="ko-KR" sz="3600" b="1" dirty="0">
                <a:solidFill>
                  <a:srgbClr val="24242F"/>
                </a:solidFill>
                <a:latin typeface="Source Han Sans KR Bold"/>
                <a:ea typeface="Source Han Sans KR Bold"/>
                <a:cs typeface="Source Han Sans KR Bold"/>
                <a:sym typeface="Source Han Sans KR Bold"/>
              </a:rPr>
              <a:t> – SVM</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6" name="그림 5">
            <a:extLst>
              <a:ext uri="{FF2B5EF4-FFF2-40B4-BE49-F238E27FC236}">
                <a16:creationId xmlns:a16="http://schemas.microsoft.com/office/drawing/2014/main" id="{A208F590-D785-F7AD-DFD9-32DE3085C976}"/>
              </a:ext>
            </a:extLst>
          </p:cNvPr>
          <p:cNvPicPr>
            <a:picLocks noChangeAspect="1"/>
          </p:cNvPicPr>
          <p:nvPr/>
        </p:nvPicPr>
        <p:blipFill>
          <a:blip r:embed="rId2"/>
          <a:stretch>
            <a:fillRect/>
          </a:stretch>
        </p:blipFill>
        <p:spPr>
          <a:xfrm>
            <a:off x="4267200" y="3064260"/>
            <a:ext cx="9144000" cy="7133201"/>
          </a:xfrm>
          <a:prstGeom prst="rect">
            <a:avLst/>
          </a:prstGeom>
        </p:spPr>
      </p:pic>
      <p:sp>
        <p:nvSpPr>
          <p:cNvPr id="7" name="TextBox 21">
            <a:extLst>
              <a:ext uri="{FF2B5EF4-FFF2-40B4-BE49-F238E27FC236}">
                <a16:creationId xmlns:a16="http://schemas.microsoft.com/office/drawing/2014/main" id="{6D1EEEC2-D6AE-2928-5F33-9FEF6FD3AC01}"/>
              </a:ext>
            </a:extLst>
          </p:cNvPr>
          <p:cNvSpPr txBox="1"/>
          <p:nvPr/>
        </p:nvSpPr>
        <p:spPr>
          <a:xfrm>
            <a:off x="1447800" y="2519809"/>
            <a:ext cx="6298698" cy="495328"/>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TN : 1250 	FP : 117 	FN : 29 	TP  : 75 </a:t>
            </a:r>
          </a:p>
        </p:txBody>
      </p:sp>
    </p:spTree>
    <p:extLst>
      <p:ext uri="{BB962C8B-B14F-4D97-AF65-F5344CB8AC3E}">
        <p14:creationId xmlns:p14="http://schemas.microsoft.com/office/powerpoint/2010/main" val="4133515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BD51D-6018-E669-0294-0B448B999CC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73D065C-6B31-5546-BC2F-B81B10348C7C}"/>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CA44978B-ACD3-DC04-D2EF-98BF2528DC3C}"/>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04A55DA8-FBDB-D1BC-8F6B-86C57A6BD17B}"/>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Random Forest</a:t>
            </a:r>
          </a:p>
        </p:txBody>
      </p:sp>
      <p:sp>
        <p:nvSpPr>
          <p:cNvPr id="15" name="TextBox 21">
            <a:extLst>
              <a:ext uri="{FF2B5EF4-FFF2-40B4-BE49-F238E27FC236}">
                <a16:creationId xmlns:a16="http://schemas.microsoft.com/office/drawing/2014/main" id="{740623C7-9525-EA5D-9E69-40A179FB687A}"/>
              </a:ext>
            </a:extLst>
          </p:cNvPr>
          <p:cNvSpPr txBox="1"/>
          <p:nvPr/>
        </p:nvSpPr>
        <p:spPr>
          <a:xfrm>
            <a:off x="1447800" y="2519809"/>
            <a:ext cx="6298698" cy="1049326"/>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ROC Curve, PR Curve</a:t>
            </a:r>
          </a:p>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ROC-AUC</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0.938</a:t>
            </a:r>
            <a:endParaRPr lang="en-US" sz="2400" dirty="0">
              <a:solidFill>
                <a:srgbClr val="24242F"/>
              </a:solidFill>
              <a:latin typeface="Source Han Sans KR"/>
              <a:ea typeface="Source Han Sans KR"/>
              <a:cs typeface="Source Han Sans KR"/>
              <a:sym typeface="Source Han Sans KR"/>
            </a:endParaRPr>
          </a:p>
        </p:txBody>
      </p:sp>
      <p:pic>
        <p:nvPicPr>
          <p:cNvPr id="5" name="그림 4">
            <a:extLst>
              <a:ext uri="{FF2B5EF4-FFF2-40B4-BE49-F238E27FC236}">
                <a16:creationId xmlns:a16="http://schemas.microsoft.com/office/drawing/2014/main" id="{8BA58930-87B0-3843-97C0-55DFE50D749F}"/>
              </a:ext>
            </a:extLst>
          </p:cNvPr>
          <p:cNvPicPr>
            <a:picLocks noChangeAspect="1"/>
          </p:cNvPicPr>
          <p:nvPr/>
        </p:nvPicPr>
        <p:blipFill>
          <a:blip r:embed="rId2"/>
          <a:stretch>
            <a:fillRect/>
          </a:stretch>
        </p:blipFill>
        <p:spPr>
          <a:xfrm>
            <a:off x="2533650" y="3907991"/>
            <a:ext cx="13220700" cy="5619750"/>
          </a:xfrm>
          <a:prstGeom prst="rect">
            <a:avLst/>
          </a:prstGeom>
        </p:spPr>
      </p:pic>
    </p:spTree>
    <p:extLst>
      <p:ext uri="{BB962C8B-B14F-4D97-AF65-F5344CB8AC3E}">
        <p14:creationId xmlns:p14="http://schemas.microsoft.com/office/powerpoint/2010/main" val="116169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9899A-4050-EC33-B190-21C650C27C00}"/>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D6C8AEB1-BFD7-71B9-7C6B-C33526E20779}"/>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4FA3BCD-6AED-3885-B03A-7517D06BDAA1}"/>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CE1F6D2C-43F2-3F95-BAC6-EE055FD3DFD7}"/>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r>
              <a:rPr lang="en-US" altLang="ko-KR" sz="3600" b="1" dirty="0">
                <a:solidFill>
                  <a:srgbClr val="24242F"/>
                </a:solidFill>
                <a:latin typeface="Source Han Sans KR Bold"/>
                <a:ea typeface="Source Han Sans KR Bold"/>
                <a:cs typeface="Source Han Sans KR Bold"/>
                <a:sym typeface="Source Han Sans KR Bold"/>
              </a:rPr>
              <a:t>– Random Forest</a:t>
            </a:r>
          </a:p>
        </p:txBody>
      </p:sp>
      <p:sp>
        <p:nvSpPr>
          <p:cNvPr id="15" name="TextBox 21">
            <a:extLst>
              <a:ext uri="{FF2B5EF4-FFF2-40B4-BE49-F238E27FC236}">
                <a16:creationId xmlns:a16="http://schemas.microsoft.com/office/drawing/2014/main" id="{7D745DF0-F46B-16B5-8B8B-F138ABE692B0}"/>
              </a:ext>
            </a:extLst>
          </p:cNvPr>
          <p:cNvSpPr txBox="1"/>
          <p:nvPr/>
        </p:nvSpPr>
        <p:spPr>
          <a:xfrm>
            <a:off x="1447800" y="2504078"/>
            <a:ext cx="12954000" cy="495328"/>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TN : 1324		FP : 43		FN : 36 	TP</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68</a:t>
            </a:r>
            <a:endParaRPr lang="en-US" sz="2400" dirty="0">
              <a:solidFill>
                <a:srgbClr val="24242F"/>
              </a:solidFill>
              <a:latin typeface="Source Han Sans KR"/>
              <a:ea typeface="Source Han Sans KR"/>
              <a:cs typeface="Source Han Sans KR"/>
              <a:sym typeface="Source Han Sans KR"/>
            </a:endParaRPr>
          </a:p>
        </p:txBody>
      </p:sp>
      <p:pic>
        <p:nvPicPr>
          <p:cNvPr id="6" name="그림 5">
            <a:extLst>
              <a:ext uri="{FF2B5EF4-FFF2-40B4-BE49-F238E27FC236}">
                <a16:creationId xmlns:a16="http://schemas.microsoft.com/office/drawing/2014/main" id="{D7752868-C8E5-DAE7-0010-5FBEFE60F78C}"/>
              </a:ext>
            </a:extLst>
          </p:cNvPr>
          <p:cNvPicPr>
            <a:picLocks noChangeAspect="1"/>
          </p:cNvPicPr>
          <p:nvPr/>
        </p:nvPicPr>
        <p:blipFill>
          <a:blip r:embed="rId2"/>
          <a:stretch>
            <a:fillRect/>
          </a:stretch>
        </p:blipFill>
        <p:spPr>
          <a:xfrm>
            <a:off x="1576387" y="3747591"/>
            <a:ext cx="15135225" cy="5619750"/>
          </a:xfrm>
          <a:prstGeom prst="rect">
            <a:avLst/>
          </a:prstGeom>
        </p:spPr>
      </p:pic>
    </p:spTree>
    <p:extLst>
      <p:ext uri="{BB962C8B-B14F-4D97-AF65-F5344CB8AC3E}">
        <p14:creationId xmlns:p14="http://schemas.microsoft.com/office/powerpoint/2010/main" val="2601477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BB36F-B196-84B6-3E7E-9C3708FC7A69}"/>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8A821A0C-2956-9C65-6FE6-A03D091531BA}"/>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31E6A303-97B0-CEB8-6061-25B685948CDF}"/>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B77C989B-A613-F03C-88C8-C68949F7E1CE}"/>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altLang="ko-KR" sz="3600" b="1" u="none" strike="noStrike" dirty="0">
                <a:solidFill>
                  <a:srgbClr val="24242F"/>
                </a:solidFill>
                <a:latin typeface="Source Han Sans KR Bold"/>
                <a:ea typeface="Source Han Sans KR Bold"/>
                <a:cs typeface="Source Han Sans KR Bold"/>
                <a:sym typeface="Source Han Sans KR Bold"/>
              </a:rPr>
              <a:t>Result </a:t>
            </a:r>
            <a:r>
              <a:rPr lang="en-US" altLang="ko-KR" sz="3600" b="1" dirty="0">
                <a:solidFill>
                  <a:srgbClr val="24242F"/>
                </a:solidFill>
                <a:latin typeface="Source Han Sans KR Bold"/>
                <a:ea typeface="Source Han Sans KR Bold"/>
                <a:cs typeface="Source Han Sans KR Bold"/>
                <a:sym typeface="Source Han Sans KR Bold"/>
              </a:rPr>
              <a:t>– Random Forest</a:t>
            </a:r>
          </a:p>
        </p:txBody>
      </p:sp>
      <p:sp>
        <p:nvSpPr>
          <p:cNvPr id="15" name="TextBox 21">
            <a:extLst>
              <a:ext uri="{FF2B5EF4-FFF2-40B4-BE49-F238E27FC236}">
                <a16:creationId xmlns:a16="http://schemas.microsoft.com/office/drawing/2014/main" id="{824BF9D9-DC54-DC54-DAC7-4A2809B86AF3}"/>
              </a:ext>
            </a:extLst>
          </p:cNvPr>
          <p:cNvSpPr txBox="1"/>
          <p:nvPr/>
        </p:nvSpPr>
        <p:spPr>
          <a:xfrm>
            <a:off x="1447800" y="2504078"/>
            <a:ext cx="12954000" cy="495328"/>
          </a:xfrm>
          <a:prstGeom prst="rect">
            <a:avLst/>
          </a:prstGeom>
        </p:spPr>
        <p:txBody>
          <a:bodyPr wrap="square" lIns="0" tIns="0" rIns="0" bIns="0" rtlCol="0" anchor="t">
            <a:spAutoFit/>
          </a:bodyPr>
          <a:lstStyle/>
          <a:p>
            <a:pPr marL="342900" lvl="0" indent="-342900">
              <a:lnSpc>
                <a:spcPct val="150000"/>
              </a:lnSpc>
              <a:spcBef>
                <a:spcPct val="0"/>
              </a:spcBef>
              <a:buFont typeface="Arial" panose="020B0604020202020204" pitchFamily="34" charset="0"/>
              <a:buChar char="•"/>
            </a:pPr>
            <a:r>
              <a:rPr lang="en-US" sz="2400" dirty="0">
                <a:solidFill>
                  <a:srgbClr val="24242F"/>
                </a:solidFill>
                <a:latin typeface="Source Han Sans KR"/>
                <a:ea typeface="Source Han Sans KR"/>
                <a:cs typeface="Source Han Sans KR"/>
                <a:sym typeface="Source Han Sans KR"/>
              </a:rPr>
              <a:t>TN : 1324		FP : 43		FN : 36 	TP</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a:t>
            </a:r>
            <a:r>
              <a:rPr lang="ko-KR" altLang="en-US" sz="2400" dirty="0">
                <a:solidFill>
                  <a:srgbClr val="24242F"/>
                </a:solidFill>
                <a:latin typeface="Source Han Sans KR"/>
                <a:ea typeface="Source Han Sans KR"/>
                <a:cs typeface="Source Han Sans KR"/>
                <a:sym typeface="Source Han Sans KR"/>
              </a:rPr>
              <a:t> </a:t>
            </a:r>
            <a:r>
              <a:rPr lang="en-US" altLang="ko-KR" sz="2400" dirty="0">
                <a:solidFill>
                  <a:srgbClr val="24242F"/>
                </a:solidFill>
                <a:latin typeface="Source Han Sans KR"/>
                <a:ea typeface="Source Han Sans KR"/>
                <a:cs typeface="Source Han Sans KR"/>
                <a:sym typeface="Source Han Sans KR"/>
              </a:rPr>
              <a:t>68</a:t>
            </a:r>
            <a:endParaRPr lang="en-US" sz="2400" dirty="0">
              <a:solidFill>
                <a:srgbClr val="24242F"/>
              </a:solidFill>
              <a:latin typeface="Source Han Sans KR"/>
              <a:ea typeface="Source Han Sans KR"/>
              <a:cs typeface="Source Han Sans KR"/>
              <a:sym typeface="Source Han Sans KR"/>
            </a:endParaRPr>
          </a:p>
        </p:txBody>
      </p:sp>
      <p:pic>
        <p:nvPicPr>
          <p:cNvPr id="4" name="그림 3">
            <a:extLst>
              <a:ext uri="{FF2B5EF4-FFF2-40B4-BE49-F238E27FC236}">
                <a16:creationId xmlns:a16="http://schemas.microsoft.com/office/drawing/2014/main" id="{9EA8B052-4353-0703-9438-7E12F2677C16}"/>
              </a:ext>
            </a:extLst>
          </p:cNvPr>
          <p:cNvPicPr>
            <a:picLocks noChangeAspect="1"/>
          </p:cNvPicPr>
          <p:nvPr/>
        </p:nvPicPr>
        <p:blipFill>
          <a:blip r:embed="rId2"/>
          <a:stretch>
            <a:fillRect/>
          </a:stretch>
        </p:blipFill>
        <p:spPr>
          <a:xfrm>
            <a:off x="9296400" y="1549897"/>
            <a:ext cx="4876800" cy="8208704"/>
          </a:xfrm>
          <a:prstGeom prst="rect">
            <a:avLst/>
          </a:prstGeom>
        </p:spPr>
      </p:pic>
    </p:spTree>
    <p:extLst>
      <p:ext uri="{BB962C8B-B14F-4D97-AF65-F5344CB8AC3E}">
        <p14:creationId xmlns:p14="http://schemas.microsoft.com/office/powerpoint/2010/main" val="1587644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1926-0528-3983-FFA8-F3D27BFA6035}"/>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B3BC5287-5624-D630-93B5-D815DA4D0D9E}"/>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3. Classification –</a:t>
            </a:r>
            <a:r>
              <a:rPr lang="en-US" altLang="ko-KR" sz="6600" b="1" dirty="0">
                <a:solidFill>
                  <a:srgbClr val="0F71FC"/>
                </a:solidFill>
                <a:latin typeface="Source Han Sans KR Bold"/>
                <a:ea typeface="Source Han Sans KR Bold"/>
                <a:cs typeface="Source Han Sans KR Bold"/>
                <a:sym typeface="Source Han Sans KR Bold"/>
              </a:rPr>
              <a:t> </a:t>
            </a:r>
            <a:r>
              <a:rPr lang="en-US" altLang="ko-KR" sz="2800" b="1" dirty="0">
                <a:solidFill>
                  <a:srgbClr val="0F71FC"/>
                </a:solidFill>
                <a:latin typeface="Source Han Sans KR Bold"/>
                <a:ea typeface="Source Han Sans KR Bold"/>
                <a:cs typeface="Source Han Sans KR Bold"/>
                <a:sym typeface="Source Han Sans KR Bold"/>
              </a:rPr>
              <a:t>System Failure Prediction</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A7CE7D13-8016-7603-EA29-85AB8E042223}"/>
              </a:ext>
            </a:extLst>
          </p:cNvPr>
          <p:cNvSpPr/>
          <p:nvPr/>
        </p:nvSpPr>
        <p:spPr>
          <a:xfrm flipV="1">
            <a:off x="10668000" y="942974"/>
            <a:ext cx="68929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6595E922-9897-4FC3-64FE-BE5DDA39CEF3}"/>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81C564F7-7F02-7A84-741F-C3F178C49DB5}"/>
              </a:ext>
            </a:extLst>
          </p:cNvPr>
          <p:cNvSpPr txBox="1"/>
          <p:nvPr/>
        </p:nvSpPr>
        <p:spPr>
          <a:xfrm>
            <a:off x="1447800" y="2933700"/>
            <a:ext cx="16002000" cy="5481309"/>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 dataset exhibited severe class imbalance, with approximately 93% normal samples and 7% failure samples, making Accuracy alone insufficient for reliable evaluation.</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 address this issue, SMOTE was applied to the training data, and model performance was evaluated using F1-score, Recall, Precision, and ROC-AUC.</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Analysis of the Logistic Regression decision boundary revealed that failure samples were heavily embedded within normal samples, indicating that the data is not linearly separable.</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Therefore, the relationship between the input features and system failures is likely to involve complex non-linear patterns rather than simple linear relationships.</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Non-linear models such as Random Forest consistently outperformed linear models, with Random Forest demonstrating the most stable generalization performance.</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85476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2755-6A0B-B6A9-365D-CABC039CA55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6E65E93-E910-BA85-DFFA-9040522A667D}"/>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F12DEC8-CB34-E912-D340-1AEEA855DE70}"/>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C6C585C4-1B6B-7E2F-C23C-D7E5BC633BE2}"/>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3" name="그림 2">
            <a:extLst>
              <a:ext uri="{FF2B5EF4-FFF2-40B4-BE49-F238E27FC236}">
                <a16:creationId xmlns:a16="http://schemas.microsoft.com/office/drawing/2014/main" id="{C572B001-582D-E5CE-961E-07F34C52E4A5}"/>
              </a:ext>
            </a:extLst>
          </p:cNvPr>
          <p:cNvPicPr>
            <a:picLocks noChangeAspect="1"/>
          </p:cNvPicPr>
          <p:nvPr/>
        </p:nvPicPr>
        <p:blipFill>
          <a:blip r:embed="rId2"/>
          <a:stretch>
            <a:fillRect/>
          </a:stretch>
        </p:blipFill>
        <p:spPr>
          <a:xfrm>
            <a:off x="2737175" y="1625793"/>
            <a:ext cx="13493425" cy="6685317"/>
          </a:xfrm>
          <a:prstGeom prst="rect">
            <a:avLst/>
          </a:prstGeom>
        </p:spPr>
      </p:pic>
      <p:sp>
        <p:nvSpPr>
          <p:cNvPr id="6" name="TextBox 21">
            <a:extLst>
              <a:ext uri="{FF2B5EF4-FFF2-40B4-BE49-F238E27FC236}">
                <a16:creationId xmlns:a16="http://schemas.microsoft.com/office/drawing/2014/main" id="{1A42A5FF-45CC-7469-8348-6B85E4339E18}"/>
              </a:ext>
            </a:extLst>
          </p:cNvPr>
          <p:cNvSpPr txBox="1"/>
          <p:nvPr/>
        </p:nvSpPr>
        <p:spPr>
          <a:xfrm>
            <a:off x="1752600" y="8349154"/>
            <a:ext cx="16002000" cy="1049326"/>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Tool Current showed three distinct peaks around 0.08A, 0.18A, and 0.49A.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This suggests the existence of multiple operating states.</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020053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6B40-C421-1DED-1821-3CD7D7F60214}"/>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632E8B52-925C-0022-E6FF-0411D78D56DB}"/>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B6953C94-CE96-EA56-2A0A-E9334C2F4267}"/>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144CD4EA-8833-2297-0CCC-0FCB67FDF177}"/>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4" name="그림 3">
            <a:extLst>
              <a:ext uri="{FF2B5EF4-FFF2-40B4-BE49-F238E27FC236}">
                <a16:creationId xmlns:a16="http://schemas.microsoft.com/office/drawing/2014/main" id="{A25BDE00-BD9E-767A-5279-0F13E7DA37BB}"/>
              </a:ext>
            </a:extLst>
          </p:cNvPr>
          <p:cNvPicPr>
            <a:picLocks noChangeAspect="1"/>
          </p:cNvPicPr>
          <p:nvPr/>
        </p:nvPicPr>
        <p:blipFill>
          <a:blip r:embed="rId2"/>
          <a:stretch>
            <a:fillRect/>
          </a:stretch>
        </p:blipFill>
        <p:spPr>
          <a:xfrm>
            <a:off x="1981200" y="2481709"/>
            <a:ext cx="15087599" cy="5598543"/>
          </a:xfrm>
          <a:prstGeom prst="rect">
            <a:avLst/>
          </a:prstGeom>
        </p:spPr>
      </p:pic>
    </p:spTree>
    <p:extLst>
      <p:ext uri="{BB962C8B-B14F-4D97-AF65-F5344CB8AC3E}">
        <p14:creationId xmlns:p14="http://schemas.microsoft.com/office/powerpoint/2010/main" val="24818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41CE9-98FF-0596-4F9C-006BDEF13B3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FA2BD030-F8D2-2CDE-5E38-173A89F97018}"/>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A7E3FC9-9007-FD3E-5925-55A0962FB249}"/>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73489430-5B5D-AB0C-3618-1F71557D92C4}"/>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u="none" strike="noStrike" dirty="0">
                <a:solidFill>
                  <a:srgbClr val="24242F"/>
                </a:solidFill>
                <a:latin typeface="Source Han Sans KR Bold"/>
                <a:ea typeface="Source Han Sans KR Bold"/>
                <a:cs typeface="Source Han Sans KR Bold"/>
                <a:sym typeface="Source Han Sans KR Bold"/>
              </a:rPr>
              <a:t>EDA</a:t>
            </a:r>
          </a:p>
        </p:txBody>
      </p:sp>
      <p:pic>
        <p:nvPicPr>
          <p:cNvPr id="3" name="그림 2">
            <a:extLst>
              <a:ext uri="{FF2B5EF4-FFF2-40B4-BE49-F238E27FC236}">
                <a16:creationId xmlns:a16="http://schemas.microsoft.com/office/drawing/2014/main" id="{AA735045-BAA7-6197-13DD-23BB74772EAD}"/>
              </a:ext>
            </a:extLst>
          </p:cNvPr>
          <p:cNvPicPr>
            <a:picLocks noChangeAspect="1"/>
          </p:cNvPicPr>
          <p:nvPr/>
        </p:nvPicPr>
        <p:blipFill>
          <a:blip r:embed="rId2"/>
          <a:stretch>
            <a:fillRect/>
          </a:stretch>
        </p:blipFill>
        <p:spPr>
          <a:xfrm>
            <a:off x="4724401" y="1381125"/>
            <a:ext cx="8686800" cy="6938900"/>
          </a:xfrm>
          <a:prstGeom prst="rect">
            <a:avLst/>
          </a:prstGeom>
        </p:spPr>
      </p:pic>
      <p:sp>
        <p:nvSpPr>
          <p:cNvPr id="4" name="TextBox 21">
            <a:extLst>
              <a:ext uri="{FF2B5EF4-FFF2-40B4-BE49-F238E27FC236}">
                <a16:creationId xmlns:a16="http://schemas.microsoft.com/office/drawing/2014/main" id="{DAAEF050-B343-F7A2-CEF4-C4645A639B75}"/>
              </a:ext>
            </a:extLst>
          </p:cNvPr>
          <p:cNvSpPr txBox="1"/>
          <p:nvPr/>
        </p:nvSpPr>
        <p:spPr>
          <a:xfrm>
            <a:off x="1752600" y="8349154"/>
            <a:ext cx="16002000" cy="1049326"/>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PCA was used to visualize the overall structure of the data.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Multiple branches and dense regions were observed, indicating potential cluster structures.</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2534919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6906A-114A-68B6-C9A7-806681034589}"/>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A12A17E0-0FAC-B787-6179-9AE1B158CC87}"/>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90FAA11B-3300-027A-8E5E-13D1E7769CD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28A62EA2-E73E-3FC4-EC2E-052494564B76}"/>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k-means</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6" name="그림 5">
            <a:extLst>
              <a:ext uri="{FF2B5EF4-FFF2-40B4-BE49-F238E27FC236}">
                <a16:creationId xmlns:a16="http://schemas.microsoft.com/office/drawing/2014/main" id="{3B771BA5-4CA9-F72A-0366-9711551F43C6}"/>
              </a:ext>
            </a:extLst>
          </p:cNvPr>
          <p:cNvPicPr>
            <a:picLocks noChangeAspect="1"/>
          </p:cNvPicPr>
          <p:nvPr/>
        </p:nvPicPr>
        <p:blipFill>
          <a:blip r:embed="rId2"/>
          <a:stretch>
            <a:fillRect/>
          </a:stretch>
        </p:blipFill>
        <p:spPr>
          <a:xfrm>
            <a:off x="3200400" y="2466355"/>
            <a:ext cx="13182600" cy="4610100"/>
          </a:xfrm>
          <a:prstGeom prst="rect">
            <a:avLst/>
          </a:prstGeom>
        </p:spPr>
      </p:pic>
      <p:sp>
        <p:nvSpPr>
          <p:cNvPr id="3" name="TextBox 21">
            <a:extLst>
              <a:ext uri="{FF2B5EF4-FFF2-40B4-BE49-F238E27FC236}">
                <a16:creationId xmlns:a16="http://schemas.microsoft.com/office/drawing/2014/main" id="{31D982C1-7B2C-224E-CE39-AEF62F0D7727}"/>
              </a:ext>
            </a:extLst>
          </p:cNvPr>
          <p:cNvSpPr txBox="1"/>
          <p:nvPr/>
        </p:nvSpPr>
        <p:spPr>
          <a:xfrm>
            <a:off x="1752600" y="8349154"/>
            <a:ext cx="16002000" cy="495328"/>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Since Tool Current showed three major peaks, K=3 was selected as the primary candidate.</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1676686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69F99-00AC-904F-6E0E-A1409EFFB5E7}"/>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5396921C-E23A-4BF7-085C-AB2B3C41A6E2}"/>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78709F45-A99E-A73A-E148-E698F8AA015D}"/>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B9154506-6F71-B471-706C-4A5BB002AD32}"/>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k-means</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3" name="그림 2">
            <a:extLst>
              <a:ext uri="{FF2B5EF4-FFF2-40B4-BE49-F238E27FC236}">
                <a16:creationId xmlns:a16="http://schemas.microsoft.com/office/drawing/2014/main" id="{91C003EC-F9BF-2FDC-18A7-AE0BA35C8CBA}"/>
              </a:ext>
            </a:extLst>
          </p:cNvPr>
          <p:cNvPicPr>
            <a:picLocks noChangeAspect="1"/>
          </p:cNvPicPr>
          <p:nvPr/>
        </p:nvPicPr>
        <p:blipFill>
          <a:blip r:embed="rId2"/>
          <a:stretch>
            <a:fillRect/>
          </a:stretch>
        </p:blipFill>
        <p:spPr>
          <a:xfrm>
            <a:off x="4038600" y="2429520"/>
            <a:ext cx="10210800" cy="6752581"/>
          </a:xfrm>
          <a:prstGeom prst="rect">
            <a:avLst/>
          </a:prstGeom>
        </p:spPr>
      </p:pic>
    </p:spTree>
    <p:extLst>
      <p:ext uri="{BB962C8B-B14F-4D97-AF65-F5344CB8AC3E}">
        <p14:creationId xmlns:p14="http://schemas.microsoft.com/office/powerpoint/2010/main" val="2294338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BF01-1341-08EA-1F9A-9844A225E365}"/>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C5492A1-F558-47C9-7EA2-071B647BE1B7}"/>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69107A49-274E-8B90-28CA-1238CABCBEFB}"/>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9C1EF70F-CCB2-D90D-7FFF-16460BCEEA97}"/>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7" name="그림 6">
            <a:extLst>
              <a:ext uri="{FF2B5EF4-FFF2-40B4-BE49-F238E27FC236}">
                <a16:creationId xmlns:a16="http://schemas.microsoft.com/office/drawing/2014/main" id="{562D5878-6959-61A8-AD92-D5EAAC89EBDB}"/>
              </a:ext>
            </a:extLst>
          </p:cNvPr>
          <p:cNvPicPr>
            <a:picLocks noChangeAspect="1"/>
          </p:cNvPicPr>
          <p:nvPr/>
        </p:nvPicPr>
        <p:blipFill>
          <a:blip r:embed="rId2"/>
          <a:stretch>
            <a:fillRect/>
          </a:stretch>
        </p:blipFill>
        <p:spPr>
          <a:xfrm>
            <a:off x="3481387" y="2333625"/>
            <a:ext cx="11325225" cy="5619750"/>
          </a:xfrm>
          <a:prstGeom prst="rect">
            <a:avLst/>
          </a:prstGeom>
        </p:spPr>
      </p:pic>
    </p:spTree>
    <p:extLst>
      <p:ext uri="{BB962C8B-B14F-4D97-AF65-F5344CB8AC3E}">
        <p14:creationId xmlns:p14="http://schemas.microsoft.com/office/powerpoint/2010/main" val="2729972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B851B-EDCE-39C3-131F-9B6DD8F7072E}"/>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193A4FD-F1D6-7674-6E60-F215BC63B731}"/>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43C9D873-5815-B172-1464-276E7E6CBC15}"/>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431C8D21-F639-F49B-AD7F-E259D5346709}"/>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DBSCAN</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4" name="그림 3">
            <a:extLst>
              <a:ext uri="{FF2B5EF4-FFF2-40B4-BE49-F238E27FC236}">
                <a16:creationId xmlns:a16="http://schemas.microsoft.com/office/drawing/2014/main" id="{9953C2FE-0BF9-DC24-BFF4-2A225CC71388}"/>
              </a:ext>
            </a:extLst>
          </p:cNvPr>
          <p:cNvPicPr>
            <a:picLocks noChangeAspect="1"/>
          </p:cNvPicPr>
          <p:nvPr/>
        </p:nvPicPr>
        <p:blipFill>
          <a:blip r:embed="rId2"/>
          <a:stretch>
            <a:fillRect/>
          </a:stretch>
        </p:blipFill>
        <p:spPr>
          <a:xfrm>
            <a:off x="3810000" y="2657478"/>
            <a:ext cx="11242467" cy="6686548"/>
          </a:xfrm>
          <a:prstGeom prst="rect">
            <a:avLst/>
          </a:prstGeom>
        </p:spPr>
      </p:pic>
    </p:spTree>
    <p:extLst>
      <p:ext uri="{BB962C8B-B14F-4D97-AF65-F5344CB8AC3E}">
        <p14:creationId xmlns:p14="http://schemas.microsoft.com/office/powerpoint/2010/main" val="50250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C106-19C8-859A-07B1-0EA1AF8F8115}"/>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E745CB7-35B8-1581-4455-DA358701DE83}"/>
              </a:ext>
            </a:extLst>
          </p:cNvPr>
          <p:cNvSpPr txBox="1"/>
          <p:nvPr/>
        </p:nvSpPr>
        <p:spPr>
          <a:xfrm>
            <a:off x="698499" y="565150"/>
            <a:ext cx="19418301" cy="212128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4400" b="1" dirty="0">
              <a:solidFill>
                <a:srgbClr val="0F71FC"/>
              </a:solidFill>
              <a:latin typeface="Source Han Sans KR Bold"/>
              <a:ea typeface="Source Han Sans KR Bold"/>
              <a:cs typeface="Source Han Sans KR Bold"/>
              <a:sym typeface="Source Han Sans KR Bold"/>
            </a:endParaRPr>
          </a:p>
          <a:p>
            <a:pPr algn="l">
              <a:lnSpc>
                <a:spcPts val="5599"/>
              </a:lnSpc>
              <a:spcBef>
                <a:spcPct val="0"/>
              </a:spcBef>
            </a:pPr>
            <a:endParaRPr lang="en-US" sz="44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A3531E92-BA13-4E61-F619-B90F17AA82C9}"/>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53E0ABAE-8E1D-38CC-A67E-B9749EABDB10}"/>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Hierarchical Clustering</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6" name="그림 5">
            <a:extLst>
              <a:ext uri="{FF2B5EF4-FFF2-40B4-BE49-F238E27FC236}">
                <a16:creationId xmlns:a16="http://schemas.microsoft.com/office/drawing/2014/main" id="{12022623-9FFB-B7EA-6FD2-7DCABFF17C30}"/>
              </a:ext>
            </a:extLst>
          </p:cNvPr>
          <p:cNvPicPr>
            <a:picLocks noChangeAspect="1"/>
          </p:cNvPicPr>
          <p:nvPr/>
        </p:nvPicPr>
        <p:blipFill>
          <a:blip r:embed="rId2"/>
          <a:stretch>
            <a:fillRect/>
          </a:stretch>
        </p:blipFill>
        <p:spPr>
          <a:xfrm>
            <a:off x="4376737" y="2452687"/>
            <a:ext cx="9534525" cy="5381625"/>
          </a:xfrm>
          <a:prstGeom prst="rect">
            <a:avLst/>
          </a:prstGeom>
        </p:spPr>
      </p:pic>
    </p:spTree>
    <p:extLst>
      <p:ext uri="{BB962C8B-B14F-4D97-AF65-F5344CB8AC3E}">
        <p14:creationId xmlns:p14="http://schemas.microsoft.com/office/powerpoint/2010/main" val="3548102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3AD41-301D-E91F-1741-C2F328A5BF1F}"/>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12418089-9170-BE19-002E-00B6A452CC82}"/>
              </a:ext>
            </a:extLst>
          </p:cNvPr>
          <p:cNvSpPr txBox="1"/>
          <p:nvPr/>
        </p:nvSpPr>
        <p:spPr>
          <a:xfrm>
            <a:off x="698499" y="565150"/>
            <a:ext cx="19418301" cy="684996"/>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a:t>
            </a:r>
            <a:r>
              <a:rPr lang="en-US" altLang="ko-KR" sz="2800" b="1" dirty="0">
                <a:solidFill>
                  <a:srgbClr val="0F71FC"/>
                </a:solidFill>
                <a:latin typeface="Source Han Sans KR Bold"/>
                <a:ea typeface="Source Han Sans KR Bold"/>
                <a:cs typeface="Source Han Sans KR Bold"/>
                <a:sym typeface="Source Han Sans KR Bold"/>
              </a:rPr>
              <a:t>Payload State Discovery</a:t>
            </a:r>
            <a:endParaRPr lang="en-US" altLang="ko-KR" sz="28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p:txBody>
      </p:sp>
      <p:sp>
        <p:nvSpPr>
          <p:cNvPr id="24" name="AutoShape 24">
            <a:extLst>
              <a:ext uri="{FF2B5EF4-FFF2-40B4-BE49-F238E27FC236}">
                <a16:creationId xmlns:a16="http://schemas.microsoft.com/office/drawing/2014/main" id="{E02A17EF-6338-872D-659F-62487C731F7C}"/>
              </a:ext>
            </a:extLst>
          </p:cNvPr>
          <p:cNvSpPr/>
          <p:nvPr/>
        </p:nvSpPr>
        <p:spPr>
          <a:xfrm flipV="1">
            <a:off x="10439400" y="942974"/>
            <a:ext cx="71215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AE25AE82-B49B-3D0E-2B0C-41EB912306EA}"/>
              </a:ext>
            </a:extLst>
          </p:cNvPr>
          <p:cNvSpPr txBox="1"/>
          <p:nvPr/>
        </p:nvSpPr>
        <p:spPr>
          <a:xfrm>
            <a:off x="1447800" y="1943100"/>
            <a:ext cx="10896600" cy="538609"/>
          </a:xfrm>
          <a:prstGeom prst="rect">
            <a:avLst/>
          </a:prstGeom>
        </p:spPr>
        <p:txBody>
          <a:bodyPr wrap="square" lIns="0" tIns="0" rIns="0" bIns="0" rtlCol="0" anchor="t">
            <a:spAutoFit/>
          </a:bodyPr>
          <a:lstStyle/>
          <a:p>
            <a:pPr lvl="0">
              <a:lnSpc>
                <a:spcPts val="4200"/>
              </a:lnSpc>
              <a:spcBef>
                <a:spcPct val="0"/>
              </a:spcBef>
            </a:pPr>
            <a:r>
              <a:rPr lang="en-US" altLang="ko-KR" sz="3600" b="1" dirty="0">
                <a:solidFill>
                  <a:srgbClr val="24242F"/>
                </a:solidFill>
                <a:latin typeface="Source Han Sans KR Bold"/>
                <a:ea typeface="Source Han Sans KR Bold"/>
                <a:cs typeface="Source Han Sans KR Bold"/>
                <a:sym typeface="Source Han Sans KR Bold"/>
              </a:rPr>
              <a:t>Result - Hierarchical Clustering</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pic>
        <p:nvPicPr>
          <p:cNvPr id="4" name="그림 3">
            <a:extLst>
              <a:ext uri="{FF2B5EF4-FFF2-40B4-BE49-F238E27FC236}">
                <a16:creationId xmlns:a16="http://schemas.microsoft.com/office/drawing/2014/main" id="{3F78B27C-DEFC-561D-BB8E-725E277DF797}"/>
              </a:ext>
            </a:extLst>
          </p:cNvPr>
          <p:cNvPicPr>
            <a:picLocks noChangeAspect="1"/>
          </p:cNvPicPr>
          <p:nvPr/>
        </p:nvPicPr>
        <p:blipFill>
          <a:blip r:embed="rId2"/>
          <a:stretch>
            <a:fillRect/>
          </a:stretch>
        </p:blipFill>
        <p:spPr>
          <a:xfrm>
            <a:off x="3836987" y="2481709"/>
            <a:ext cx="10163175" cy="5700110"/>
          </a:xfrm>
          <a:prstGeom prst="rect">
            <a:avLst/>
          </a:prstGeom>
        </p:spPr>
      </p:pic>
    </p:spTree>
    <p:extLst>
      <p:ext uri="{BB962C8B-B14F-4D97-AF65-F5344CB8AC3E}">
        <p14:creationId xmlns:p14="http://schemas.microsoft.com/office/powerpoint/2010/main" val="176636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B692B-CE72-DD86-5B8F-C54EC9BA81FB}"/>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08E20CAD-FDB3-8311-F2B8-B87DD3C279F9}"/>
              </a:ext>
            </a:extLst>
          </p:cNvPr>
          <p:cNvSpPr txBox="1"/>
          <p:nvPr/>
        </p:nvSpPr>
        <p:spPr>
          <a:xfrm>
            <a:off x="698499" y="565150"/>
            <a:ext cx="19418301" cy="2194512"/>
          </a:xfrm>
          <a:prstGeom prst="rect">
            <a:avLst/>
          </a:prstGeom>
        </p:spPr>
        <p:txBody>
          <a:bodyPr wrap="square" lIns="0" tIns="0" rIns="0" bIns="0" rtlCol="0" anchor="t">
            <a:spAutoFit/>
          </a:bodyPr>
          <a:lstStyle/>
          <a:p>
            <a:pPr>
              <a:lnSpc>
                <a:spcPts val="5599"/>
              </a:lnSpc>
              <a:spcBef>
                <a:spcPct val="0"/>
              </a:spcBef>
            </a:pPr>
            <a:r>
              <a:rPr lang="en-US" altLang="ko-KR" sz="4400" b="1" dirty="0">
                <a:solidFill>
                  <a:srgbClr val="0F71FC"/>
                </a:solidFill>
                <a:latin typeface="Source Han Sans KR Bold"/>
                <a:ea typeface="Source Han Sans KR Bold"/>
                <a:cs typeface="Source Han Sans KR Bold"/>
                <a:sym typeface="Source Han Sans KR Bold"/>
              </a:rPr>
              <a:t>4. Clustering – Payload State Discovery</a:t>
            </a:r>
            <a:endParaRPr lang="en-US" altLang="ko-KR" sz="4400" dirty="0">
              <a:solidFill>
                <a:srgbClr val="24242F"/>
              </a:solidFill>
              <a:latin typeface="Source Han Sans KR Bold" panose="020B0600000101010101" charset="-127"/>
              <a:ea typeface="Source Han Sans KR Bold" panose="020B0600000101010101" charset="-127"/>
              <a:cs typeface="Source Han Sans KR"/>
              <a:sym typeface="Source Han Sans KR"/>
            </a:endParaRPr>
          </a:p>
          <a:p>
            <a:pPr>
              <a:lnSpc>
                <a:spcPts val="5599"/>
              </a:lnSpc>
              <a:spcBef>
                <a:spcPct val="0"/>
              </a:spcBef>
            </a:pPr>
            <a:endParaRPr lang="en-US" altLang="ko-KR" sz="6600" b="1" dirty="0">
              <a:solidFill>
                <a:srgbClr val="0F71FC"/>
              </a:solidFill>
              <a:latin typeface="Source Han Sans KR Bold"/>
              <a:ea typeface="Source Han Sans KR Bold"/>
              <a:cs typeface="Source Han Sans KR Bold"/>
              <a:sym typeface="Source Han Sans KR Bold"/>
            </a:endParaRPr>
          </a:p>
          <a:p>
            <a:pPr>
              <a:lnSpc>
                <a:spcPts val="5599"/>
              </a:lnSpc>
              <a:spcBef>
                <a:spcPct val="0"/>
              </a:spcBef>
            </a:pPr>
            <a:endParaRPr lang="en-US" altLang="ko-KR" sz="6600" b="1" dirty="0">
              <a:solidFill>
                <a:srgbClr val="0F71FC"/>
              </a:solidFill>
              <a:latin typeface="Source Han Sans KR Bold"/>
              <a:ea typeface="Source Han Sans KR Bold"/>
              <a:cs typeface="Source Han Sans KR Bold"/>
              <a:sym typeface="Source Han Sans KR Bold"/>
            </a:endParaRPr>
          </a:p>
        </p:txBody>
      </p:sp>
      <p:sp>
        <p:nvSpPr>
          <p:cNvPr id="24" name="AutoShape 24">
            <a:extLst>
              <a:ext uri="{FF2B5EF4-FFF2-40B4-BE49-F238E27FC236}">
                <a16:creationId xmlns:a16="http://schemas.microsoft.com/office/drawing/2014/main" id="{83E031CF-DCA4-FBE5-3D1A-29D9B3729DCB}"/>
              </a:ext>
            </a:extLst>
          </p:cNvPr>
          <p:cNvSpPr/>
          <p:nvPr/>
        </p:nvSpPr>
        <p:spPr>
          <a:xfrm flipV="1">
            <a:off x="10668000" y="942974"/>
            <a:ext cx="6892924" cy="9526"/>
          </a:xfrm>
          <a:prstGeom prst="line">
            <a:avLst/>
          </a:prstGeom>
          <a:ln w="19050" cap="flat">
            <a:solidFill>
              <a:srgbClr val="0F71FC"/>
            </a:solidFill>
            <a:prstDash val="solid"/>
            <a:headEnd type="none" w="sm" len="sm"/>
            <a:tailEnd type="none" w="sm" len="sm"/>
          </a:ln>
        </p:spPr>
        <p:txBody>
          <a:bodyPr/>
          <a:lstStyle/>
          <a:p>
            <a:endParaRPr lang="ko-KR" altLang="en-US"/>
          </a:p>
        </p:txBody>
      </p:sp>
      <p:sp>
        <p:nvSpPr>
          <p:cNvPr id="2" name="TextBox 2">
            <a:extLst>
              <a:ext uri="{FF2B5EF4-FFF2-40B4-BE49-F238E27FC236}">
                <a16:creationId xmlns:a16="http://schemas.microsoft.com/office/drawing/2014/main" id="{09E7B649-A32B-18F5-00AC-4B77CE83996A}"/>
              </a:ext>
            </a:extLst>
          </p:cNvPr>
          <p:cNvSpPr txBox="1"/>
          <p:nvPr/>
        </p:nvSpPr>
        <p:spPr>
          <a:xfrm>
            <a:off x="1447800" y="1943100"/>
            <a:ext cx="10896600" cy="538609"/>
          </a:xfrm>
          <a:prstGeom prst="rect">
            <a:avLst/>
          </a:prstGeom>
        </p:spPr>
        <p:txBody>
          <a:bodyPr wrap="square" lIns="0" tIns="0" rIns="0" bIns="0" rtlCol="0" anchor="t">
            <a:spAutoFit/>
          </a:bodyPr>
          <a:lstStyle/>
          <a:p>
            <a:pPr marL="0" lvl="0" indent="0" algn="l">
              <a:lnSpc>
                <a:spcPts val="4200"/>
              </a:lnSpc>
              <a:spcBef>
                <a:spcPct val="0"/>
              </a:spcBef>
            </a:pPr>
            <a:r>
              <a:rPr lang="en-US" sz="3600" b="1" dirty="0">
                <a:solidFill>
                  <a:srgbClr val="24242F"/>
                </a:solidFill>
                <a:latin typeface="Source Han Sans KR Bold"/>
                <a:ea typeface="Source Han Sans KR Bold"/>
                <a:cs typeface="Source Han Sans KR Bold"/>
                <a:sym typeface="Source Han Sans KR Bold"/>
              </a:rPr>
              <a:t>Result</a:t>
            </a:r>
            <a:endParaRPr lang="en-US" sz="3600" b="1" u="none" strike="noStrike" dirty="0">
              <a:solidFill>
                <a:srgbClr val="24242F"/>
              </a:solidFill>
              <a:latin typeface="Source Han Sans KR Bold"/>
              <a:ea typeface="Source Han Sans KR Bold"/>
              <a:cs typeface="Source Han Sans KR Bold"/>
              <a:sym typeface="Source Han Sans KR Bold"/>
            </a:endParaRPr>
          </a:p>
        </p:txBody>
      </p:sp>
      <p:sp>
        <p:nvSpPr>
          <p:cNvPr id="15" name="TextBox 21">
            <a:extLst>
              <a:ext uri="{FF2B5EF4-FFF2-40B4-BE49-F238E27FC236}">
                <a16:creationId xmlns:a16="http://schemas.microsoft.com/office/drawing/2014/main" id="{5F7671CF-1308-5A11-DD55-A4390AE29E77}"/>
              </a:ext>
            </a:extLst>
          </p:cNvPr>
          <p:cNvSpPr txBox="1"/>
          <p:nvPr/>
        </p:nvSpPr>
        <p:spPr>
          <a:xfrm>
            <a:off x="1447800" y="2933700"/>
            <a:ext cx="16002000" cy="2711320"/>
          </a:xfrm>
          <a:prstGeom prst="rect">
            <a:avLst/>
          </a:prstGeom>
        </p:spPr>
        <p:txBody>
          <a:bodyPr wrap="square" lIns="0" tIns="0" rIns="0" bIns="0" rtlCol="0" anchor="t">
            <a:spAutoFit/>
          </a:bodyPr>
          <a:lstStyle/>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Tool Current exhibited three distinct operating regions.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K-Means successfully recovered these regions with the highest cluster quality.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DBSCAN generated many small local clusters and did not align well with payload states.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Hierarchical clustering captured some structure but produced less distinct separation. </a:t>
            </a:r>
          </a:p>
          <a:p>
            <a:pPr marL="342900" indent="-342900">
              <a:lnSpc>
                <a:spcPct val="150000"/>
              </a:lnSpc>
              <a:spcBef>
                <a:spcPct val="0"/>
              </a:spcBef>
              <a:buFontTx/>
              <a:buChar char="-"/>
            </a:pPr>
            <a:r>
              <a:rPr lang="en-US" altLang="ko-KR" sz="2400" dirty="0">
                <a:solidFill>
                  <a:srgbClr val="24242F"/>
                </a:solidFill>
                <a:latin typeface="Source Han Sans KR"/>
                <a:ea typeface="Source Han Sans KR"/>
                <a:cs typeface="Source Han Sans KR"/>
                <a:sym typeface="Source Han Sans KR"/>
              </a:rPr>
              <a:t>Therefore, K-Means was selected as the most appropriate clustering method for payload state discovery.</a:t>
            </a:r>
            <a:endParaRPr lang="en-US" sz="2400" dirty="0">
              <a:solidFill>
                <a:srgbClr val="24242F"/>
              </a:solidFill>
              <a:latin typeface="Source Han Sans KR"/>
              <a:ea typeface="Source Han Sans KR"/>
              <a:cs typeface="Source Han Sans KR"/>
              <a:sym typeface="Source Han Sans KR"/>
            </a:endParaRPr>
          </a:p>
        </p:txBody>
      </p:sp>
    </p:spTree>
    <p:extLst>
      <p:ext uri="{BB962C8B-B14F-4D97-AF65-F5344CB8AC3E}">
        <p14:creationId xmlns:p14="http://schemas.microsoft.com/office/powerpoint/2010/main" val="3154300870"/>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1412</TotalTime>
  <Words>1024</Words>
  <Application>Microsoft Office PowerPoint</Application>
  <PresentationFormat>사용자 지정</PresentationFormat>
  <Paragraphs>208</Paragraphs>
  <Slides>35</Slides>
  <Notes>3</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35</vt:i4>
      </vt:variant>
    </vt:vector>
  </HeadingPairs>
  <TitlesOfParts>
    <vt:vector size="44" baseType="lpstr">
      <vt:lpstr>Arial</vt:lpstr>
      <vt:lpstr>Source Han Sans KR Bold</vt:lpstr>
      <vt:lpstr>Source Han Sans KR Medium</vt:lpstr>
      <vt:lpstr>Aptos Display</vt:lpstr>
      <vt:lpstr>맑은 고딕</vt:lpstr>
      <vt:lpstr>Source Han Sans KR</vt:lpstr>
      <vt:lpstr>Cabin Bold</vt:lpstr>
      <vt:lpstr>Aptos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그레이 블루 심플한 비즈니스 프레젠테이션</dc:title>
  <cp:lastModifiedBy>김택명</cp:lastModifiedBy>
  <cp:revision>12</cp:revision>
  <dcterms:created xsi:type="dcterms:W3CDTF">2006-08-16T00:00:00Z</dcterms:created>
  <dcterms:modified xsi:type="dcterms:W3CDTF">2026-06-08T23:43:16Z</dcterms:modified>
  <dc:identifier>DAHL57sODUw</dc:identifier>
</cp:coreProperties>
</file>